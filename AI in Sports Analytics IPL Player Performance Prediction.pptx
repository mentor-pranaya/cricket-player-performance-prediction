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rmorant Garamond Italics" charset="1" panose="00000500000000000000"/>
      <p:regular r:id="rId21"/>
    </p:embeddedFont>
    <p:embeddedFont>
      <p:font typeface="Glacial Indifference" charset="1" panose="00000000000000000000"/>
      <p:regular r:id="rId22"/>
    </p:embeddedFont>
    <p:embeddedFont>
      <p:font typeface="Cormorant Garamond Bold Italics" charset="1" panose="00000800000000000000"/>
      <p:regular r:id="rId23"/>
    </p:embeddedFont>
    <p:embeddedFont>
      <p:font typeface="Glacial Indifference Bold" charset="1" panose="00000800000000000000"/>
      <p:regular r:id="rId24"/>
    </p:embeddedFont>
    <p:embeddedFont>
      <p:font typeface="Cormorant Garamond Bold" charset="1" panose="00000800000000000000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Relationship Id="rId8" Target="../media/image43.pn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809790" y="5826116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1925123" y="2221779"/>
            <a:ext cx="0" cy="5843443"/>
          </a:xfrm>
          <a:prstGeom prst="line">
            <a:avLst/>
          </a:prstGeom>
          <a:ln cap="flat" w="57150">
            <a:solidFill>
              <a:srgbClr val="2D388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458260" y="2221779"/>
            <a:ext cx="2247374" cy="1499534"/>
          </a:xfrm>
          <a:custGeom>
            <a:avLst/>
            <a:gdLst/>
            <a:ahLst/>
            <a:cxnLst/>
            <a:rect r="r" b="b" t="t" l="l"/>
            <a:pathLst>
              <a:path h="1499534" w="2247374">
                <a:moveTo>
                  <a:pt x="0" y="0"/>
                </a:moveTo>
                <a:lnTo>
                  <a:pt x="2247373" y="0"/>
                </a:lnTo>
                <a:lnTo>
                  <a:pt x="2247373" y="1499533"/>
                </a:lnTo>
                <a:lnTo>
                  <a:pt x="0" y="14995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8414" t="-12481" r="-14838" b="-123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90996" y="3892762"/>
            <a:ext cx="13106009" cy="234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33"/>
              </a:lnSpc>
            </a:pPr>
            <a:r>
              <a:rPr lang="en-US" sz="9033" i="true">
                <a:solidFill>
                  <a:srgbClr val="2D3880"/>
                </a:solidFill>
                <a:latin typeface="Cormorant Garamond Italics"/>
                <a:ea typeface="Cormorant Garamond Italics"/>
                <a:cs typeface="Cormorant Garamond Italics"/>
                <a:sym typeface="Cormorant Garamond Italics"/>
              </a:rPr>
              <a:t>AI-Powered Cricket Performance Prediction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90996" y="6669484"/>
            <a:ext cx="1036809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Predicting Player Runs and Wickets Using 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865" y="8493846"/>
            <a:ext cx="377226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by, </a:t>
            </a:r>
          </a:p>
          <a:p>
            <a:pPr algn="l" marL="0" indent="0" lvl="0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Kommera Deepak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3628477"/>
            <a:chOff x="0" y="0"/>
            <a:chExt cx="24384000" cy="4837969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4241" r="0" b="30485"/>
            <a:stretch>
              <a:fillRect/>
            </a:stretch>
          </p:blipFill>
          <p:spPr>
            <a:xfrm flipH="false" flipV="false">
              <a:off x="0" y="0"/>
              <a:ext cx="24384000" cy="4837969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29148" y="4025988"/>
            <a:ext cx="16429704" cy="5807502"/>
            <a:chOff x="0" y="0"/>
            <a:chExt cx="4327165" cy="15295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27165" cy="1529548"/>
            </a:xfrm>
            <a:custGeom>
              <a:avLst/>
              <a:gdLst/>
              <a:ahLst/>
              <a:cxnLst/>
              <a:rect r="r" b="b" t="t" l="l"/>
              <a:pathLst>
                <a:path h="1529548" w="4327165">
                  <a:moveTo>
                    <a:pt x="0" y="0"/>
                  </a:moveTo>
                  <a:lnTo>
                    <a:pt x="4327165" y="0"/>
                  </a:lnTo>
                  <a:lnTo>
                    <a:pt x="4327165" y="1529548"/>
                  </a:lnTo>
                  <a:lnTo>
                    <a:pt x="0" y="1529548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327165" cy="157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2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80199" y="3921213"/>
            <a:ext cx="8927602" cy="92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4"/>
              </a:lnSpc>
              <a:spcBef>
                <a:spcPct val="0"/>
              </a:spcBef>
            </a:pPr>
            <a:r>
              <a:rPr lang="en-US" b="true" sz="5374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4316" y="4746999"/>
            <a:ext cx="15736349" cy="528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9"/>
              </a:lnSpc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Cricket analytics has evolved significantly with the availability of large-scale historical datasets from leagues such as the Indian Premier League (IPL).</a:t>
            </a:r>
          </a:p>
          <a:p>
            <a:pPr algn="l">
              <a:lnSpc>
                <a:spcPts val="3589"/>
              </a:lnSpc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However, predicting individual player performance remains challenging due to multiple influencing factors such as: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Opponent strength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Match venue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form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Match conditions</a:t>
            </a:r>
          </a:p>
          <a:p>
            <a:pPr algn="l">
              <a:lnSpc>
                <a:spcPts val="3589"/>
              </a:lnSpc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This project focuses on developing an AI-based system to predict: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Runs scored by a batsman</a:t>
            </a:r>
          </a:p>
          <a:p>
            <a:pPr algn="l" marL="455908" indent="-227954" lvl="1">
              <a:lnSpc>
                <a:spcPts val="3589"/>
              </a:lnSpc>
              <a:buFont typeface="Arial"/>
              <a:buChar char="•"/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Wickets taken by a bowler</a:t>
            </a:r>
          </a:p>
          <a:p>
            <a:pPr algn="l" marL="0" indent="0" lvl="0">
              <a:lnSpc>
                <a:spcPts val="3589"/>
              </a:lnSpc>
            </a:pPr>
            <a:r>
              <a:rPr lang="en-US" sz="2111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historical IPL match data and machine learning techniques.</a:t>
            </a:r>
          </a:p>
          <a:p>
            <a:pPr algn="l" marL="0" indent="0" lvl="0">
              <a:lnSpc>
                <a:spcPts val="30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82390"/>
            <a:ext cx="7328478" cy="3104610"/>
          </a:xfrm>
          <a:custGeom>
            <a:avLst/>
            <a:gdLst/>
            <a:ahLst/>
            <a:cxnLst/>
            <a:rect r="r" b="b" t="t" l="l"/>
            <a:pathLst>
              <a:path h="3104610" w="7328478">
                <a:moveTo>
                  <a:pt x="0" y="0"/>
                </a:moveTo>
                <a:lnTo>
                  <a:pt x="7328478" y="0"/>
                </a:lnTo>
                <a:lnTo>
                  <a:pt x="7328478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77604" y="2663378"/>
            <a:ext cx="1466396" cy="1239104"/>
          </a:xfrm>
          <a:custGeom>
            <a:avLst/>
            <a:gdLst/>
            <a:ahLst/>
            <a:cxnLst/>
            <a:rect r="r" b="b" t="t" l="l"/>
            <a:pathLst>
              <a:path h="1239104" w="1466396">
                <a:moveTo>
                  <a:pt x="0" y="0"/>
                </a:moveTo>
                <a:lnTo>
                  <a:pt x="1466396" y="0"/>
                </a:lnTo>
                <a:lnTo>
                  <a:pt x="1466396" y="1239105"/>
                </a:lnTo>
                <a:lnTo>
                  <a:pt x="0" y="1239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77604" y="4570306"/>
            <a:ext cx="1466396" cy="1466396"/>
          </a:xfrm>
          <a:custGeom>
            <a:avLst/>
            <a:gdLst/>
            <a:ahLst/>
            <a:cxnLst/>
            <a:rect r="r" b="b" t="t" l="l"/>
            <a:pathLst>
              <a:path h="1466396" w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55388" y="6986920"/>
            <a:ext cx="1466396" cy="1466396"/>
          </a:xfrm>
          <a:custGeom>
            <a:avLst/>
            <a:gdLst/>
            <a:ahLst/>
            <a:cxnLst/>
            <a:rect r="r" b="b" t="t" l="l"/>
            <a:pathLst>
              <a:path h="1466396" w="1466396">
                <a:moveTo>
                  <a:pt x="0" y="0"/>
                </a:moveTo>
                <a:lnTo>
                  <a:pt x="1466396" y="0"/>
                </a:lnTo>
                <a:lnTo>
                  <a:pt x="1466396" y="1466396"/>
                </a:lnTo>
                <a:lnTo>
                  <a:pt x="0" y="1466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5350"/>
            <a:ext cx="795532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39553"/>
            <a:ext cx="5320224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Traditional cricket predictions rely heavily on manual analysis and expert intuition, which may not always provide consistent or accurate results.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6338" y="2901503"/>
            <a:ext cx="75829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Processing past match statistics to extract useful insights about player performance.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76338" y="2539553"/>
            <a:ext cx="7582962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Analyze large volumes of historical cricket data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76338" y="4804621"/>
            <a:ext cx="75829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Detecting trends and relationships that influence how players perform in different conditions.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76338" y="4513156"/>
            <a:ext cx="7582962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Identify meaningful performance patterns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48695" y="7221235"/>
            <a:ext cx="75829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Using machine learning models to estimate upcoming player runs and wickets with accuracy.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48695" y="6929770"/>
            <a:ext cx="863930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Provide reliable predictions for players future performances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6139903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794" y="648305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51772" y="438150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Objectives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629166" y="2122170"/>
            <a:ext cx="842787" cy="8427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629166" y="3236401"/>
            <a:ext cx="842787" cy="8427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29166" y="4345888"/>
            <a:ext cx="842787" cy="8427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29166" y="5455375"/>
            <a:ext cx="842787" cy="84278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629166" y="6564862"/>
            <a:ext cx="842787" cy="84278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851939" y="2246066"/>
            <a:ext cx="106496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perform data cleaning and preprocessing on IPL datasets.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51939" y="3360297"/>
            <a:ext cx="106496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conduct exploratory data analysis (EDA) for insights.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51939" y="4469784"/>
            <a:ext cx="1142644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build machine learning models for performance prediction.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51939" y="5499259"/>
            <a:ext cx="1195897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develop a user-friendly Streamlit dashboard for predictions.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51939" y="6688758"/>
            <a:ext cx="949553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 evaluate model accuracy and effectiveness.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5420" y="0"/>
            <a:ext cx="9962580" cy="10287000"/>
            <a:chOff x="0" y="0"/>
            <a:chExt cx="1328344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9830" r="0" b="3501"/>
            <a:stretch>
              <a:fillRect/>
            </a:stretch>
          </p:blipFill>
          <p:spPr>
            <a:xfrm flipH="false" flipV="false">
              <a:off x="0" y="0"/>
              <a:ext cx="13283440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44116" y="628330"/>
            <a:ext cx="6945629" cy="113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Description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4116" y="2225040"/>
            <a:ext cx="711479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project uses historical IPL data including: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Ball-by-ball match records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performance statistics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Match details such as teams and venues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44116" y="4867275"/>
            <a:ext cx="7114797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features used: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name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Opponent team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Venue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Batting position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Historical averages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Strike rate / economy rate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Previous performance metrics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805" y="2692814"/>
            <a:ext cx="11301259" cy="6201566"/>
          </a:xfrm>
          <a:custGeom>
            <a:avLst/>
            <a:gdLst/>
            <a:ahLst/>
            <a:cxnLst/>
            <a:rect r="r" b="b" t="t" l="l"/>
            <a:pathLst>
              <a:path h="6201566" w="11301259">
                <a:moveTo>
                  <a:pt x="0" y="0"/>
                </a:moveTo>
                <a:lnTo>
                  <a:pt x="11301259" y="0"/>
                </a:lnTo>
                <a:lnTo>
                  <a:pt x="11301259" y="6201565"/>
                </a:lnTo>
                <a:lnTo>
                  <a:pt x="0" y="6201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82701"/>
            <a:ext cx="7010668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Data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74722" y="2963748"/>
            <a:ext cx="7231105" cy="511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preprocessing steps included: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Handling missing values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Standardizing team names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Removing duplicates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Feature engineering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 aggregation at player level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Outlier detection and analysis</a:t>
            </a:r>
          </a:p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steps ensured data quality and </a:t>
            </a:r>
          </a:p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improved model performance.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921804"/>
            <a:ext cx="8115300" cy="8138861"/>
            <a:chOff x="0" y="0"/>
            <a:chExt cx="2137363" cy="2143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2143568"/>
            </a:xfrm>
            <a:custGeom>
              <a:avLst/>
              <a:gdLst/>
              <a:ahLst/>
              <a:cxnLst/>
              <a:rect r="r" b="b" t="t" l="l"/>
              <a:pathLst>
                <a:path h="2143568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2143568"/>
                  </a:lnTo>
                  <a:lnTo>
                    <a:pt x="0" y="2143568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37363" cy="2200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3196" y="5160496"/>
            <a:ext cx="7166611" cy="4900170"/>
          </a:xfrm>
          <a:custGeom>
            <a:avLst/>
            <a:gdLst/>
            <a:ahLst/>
            <a:cxnLst/>
            <a:rect r="r" b="b" t="t" l="l"/>
            <a:pathLst>
              <a:path h="4900170" w="7166611">
                <a:moveTo>
                  <a:pt x="0" y="0"/>
                </a:moveTo>
                <a:lnTo>
                  <a:pt x="7166610" y="0"/>
                </a:lnTo>
                <a:lnTo>
                  <a:pt x="7166610" y="4900170"/>
                </a:lnTo>
                <a:lnTo>
                  <a:pt x="0" y="49001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68074" y="2197601"/>
            <a:ext cx="6716558" cy="7587267"/>
          </a:xfrm>
          <a:custGeom>
            <a:avLst/>
            <a:gdLst/>
            <a:ahLst/>
            <a:cxnLst/>
            <a:rect r="r" b="b" t="t" l="l"/>
            <a:pathLst>
              <a:path h="7587267" w="6716558">
                <a:moveTo>
                  <a:pt x="0" y="0"/>
                </a:moveTo>
                <a:lnTo>
                  <a:pt x="6716559" y="0"/>
                </a:lnTo>
                <a:lnTo>
                  <a:pt x="6716559" y="7587268"/>
                </a:lnTo>
                <a:lnTo>
                  <a:pt x="0" y="7587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5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124339" y="472653"/>
            <a:ext cx="13126276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Exploratory Data Analysis (EDA)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64654"/>
            <a:ext cx="7535602" cy="376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EDA was performed to understand performance trends: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Runs distribution across players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Wickets distribution across bowlers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by venue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against opponents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consistency analysis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Visualizations helped identify patterns useful for model training.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5796756"/>
            <a:ext cx="5703543" cy="4490244"/>
          </a:xfrm>
          <a:custGeom>
            <a:avLst/>
            <a:gdLst/>
            <a:ahLst/>
            <a:cxnLst/>
            <a:rect r="r" b="b" t="t" l="l"/>
            <a:pathLst>
              <a:path h="4490244" w="5703543">
                <a:moveTo>
                  <a:pt x="0" y="4490244"/>
                </a:moveTo>
                <a:lnTo>
                  <a:pt x="5703543" y="4490244"/>
                </a:lnTo>
                <a:lnTo>
                  <a:pt x="5703543" y="0"/>
                </a:lnTo>
                <a:lnTo>
                  <a:pt x="0" y="0"/>
                </a:lnTo>
                <a:lnTo>
                  <a:pt x="0" y="449024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87794" y="648305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86379" y="493111"/>
            <a:ext cx="12715243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Feature Engineering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86379" y="3029301"/>
            <a:ext cx="842787" cy="8427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86379" y="4157838"/>
            <a:ext cx="842787" cy="8427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786379" y="5286375"/>
            <a:ext cx="842787" cy="8427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03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86379" y="6414912"/>
            <a:ext cx="842787" cy="84278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94202" y="3029301"/>
            <a:ext cx="842787" cy="84278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94202" y="4157838"/>
            <a:ext cx="842787" cy="84278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94202" y="5286375"/>
            <a:ext cx="842787" cy="8427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07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837582" y="3164945"/>
            <a:ext cx="49550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average runs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37582" y="4293482"/>
            <a:ext cx="49550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Player average wickets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37582" y="5417431"/>
            <a:ext cx="544706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Opponent-wise performance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37582" y="6541381"/>
            <a:ext cx="49550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Venue-wise performance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46539" y="3153197"/>
            <a:ext cx="495508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Strike-Rate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45406" y="4293482"/>
            <a:ext cx="495621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Economy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45406" y="5422019"/>
            <a:ext cx="522795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Recent form indicators</a:t>
            </a:r>
          </a:p>
          <a:p>
            <a:pPr algn="l">
              <a:lnSpc>
                <a:spcPts val="4480"/>
              </a:lnSpc>
            </a:pP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4097792" y="2077119"/>
            <a:ext cx="11403829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New features were created to improve prediction accuracy: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6300" y="3673941"/>
            <a:ext cx="8096500" cy="1861453"/>
            <a:chOff x="0" y="0"/>
            <a:chExt cx="2132412" cy="4902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62800" y="3673941"/>
            <a:ext cx="8096500" cy="1861453"/>
            <a:chOff x="0" y="0"/>
            <a:chExt cx="2132412" cy="4902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62800" y="7396847"/>
            <a:ext cx="8096500" cy="1861453"/>
            <a:chOff x="0" y="0"/>
            <a:chExt cx="2132412" cy="4902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62800" y="5535394"/>
            <a:ext cx="8096500" cy="1861453"/>
            <a:chOff x="0" y="0"/>
            <a:chExt cx="2132412" cy="4902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6300" y="7396847"/>
            <a:ext cx="8096500" cy="1861453"/>
            <a:chOff x="0" y="0"/>
            <a:chExt cx="2132412" cy="4902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6300" y="5535394"/>
            <a:ext cx="8096500" cy="1861453"/>
            <a:chOff x="0" y="0"/>
            <a:chExt cx="2132412" cy="4902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32412" cy="490259"/>
            </a:xfrm>
            <a:custGeom>
              <a:avLst/>
              <a:gdLst/>
              <a:ahLst/>
              <a:cxnLst/>
              <a:rect r="r" b="b" t="t" l="l"/>
              <a:pathLst>
                <a:path h="490259" w="2132412">
                  <a:moveTo>
                    <a:pt x="0" y="0"/>
                  </a:moveTo>
                  <a:lnTo>
                    <a:pt x="2132412" y="0"/>
                  </a:lnTo>
                  <a:lnTo>
                    <a:pt x="2132412" y="490259"/>
                  </a:lnTo>
                  <a:lnTo>
                    <a:pt x="0" y="490259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32412" cy="547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true" rot="0">
            <a:off x="0" y="23130"/>
            <a:ext cx="5372897" cy="2276154"/>
          </a:xfrm>
          <a:custGeom>
            <a:avLst/>
            <a:gdLst/>
            <a:ahLst/>
            <a:cxnLst/>
            <a:rect r="r" b="b" t="t" l="l"/>
            <a:pathLst>
              <a:path h="2276154" w="5372897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0">
            <a:off x="12915103" y="23731"/>
            <a:ext cx="5372897" cy="2276154"/>
          </a:xfrm>
          <a:custGeom>
            <a:avLst/>
            <a:gdLst/>
            <a:ahLst/>
            <a:cxnLst/>
            <a:rect r="r" b="b" t="t" l="l"/>
            <a:pathLst>
              <a:path h="2276154" w="5372897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865348" y="5611499"/>
            <a:ext cx="1703876" cy="1703876"/>
          </a:xfrm>
          <a:custGeom>
            <a:avLst/>
            <a:gdLst/>
            <a:ahLst/>
            <a:cxnLst/>
            <a:rect r="r" b="b" t="t" l="l"/>
            <a:pathLst>
              <a:path h="1703876" w="1703876">
                <a:moveTo>
                  <a:pt x="0" y="0"/>
                </a:moveTo>
                <a:lnTo>
                  <a:pt x="1703876" y="0"/>
                </a:lnTo>
                <a:lnTo>
                  <a:pt x="1703876" y="1703875"/>
                </a:lnTo>
                <a:lnTo>
                  <a:pt x="0" y="170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577344" y="3409005"/>
            <a:ext cx="4025066" cy="2235521"/>
          </a:xfrm>
          <a:custGeom>
            <a:avLst/>
            <a:gdLst/>
            <a:ahLst/>
            <a:cxnLst/>
            <a:rect r="r" b="b" t="t" l="l"/>
            <a:pathLst>
              <a:path h="2235521" w="4025066">
                <a:moveTo>
                  <a:pt x="0" y="0"/>
                </a:moveTo>
                <a:lnTo>
                  <a:pt x="4025066" y="0"/>
                </a:lnTo>
                <a:lnTo>
                  <a:pt x="4025066" y="2235521"/>
                </a:lnTo>
                <a:lnTo>
                  <a:pt x="0" y="22355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182354" y="5995866"/>
            <a:ext cx="2816139" cy="836560"/>
          </a:xfrm>
          <a:custGeom>
            <a:avLst/>
            <a:gdLst/>
            <a:ahLst/>
            <a:cxnLst/>
            <a:rect r="r" b="b" t="t" l="l"/>
            <a:pathLst>
              <a:path h="836560" w="2816139">
                <a:moveTo>
                  <a:pt x="0" y="0"/>
                </a:moveTo>
                <a:lnTo>
                  <a:pt x="2816139" y="0"/>
                </a:lnTo>
                <a:lnTo>
                  <a:pt x="2816139" y="836560"/>
                </a:lnTo>
                <a:lnTo>
                  <a:pt x="0" y="836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049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106245" y="7854047"/>
            <a:ext cx="2892247" cy="793826"/>
          </a:xfrm>
          <a:custGeom>
            <a:avLst/>
            <a:gdLst/>
            <a:ahLst/>
            <a:cxnLst/>
            <a:rect r="r" b="b" t="t" l="l"/>
            <a:pathLst>
              <a:path h="793826" w="2892247">
                <a:moveTo>
                  <a:pt x="0" y="0"/>
                </a:moveTo>
                <a:lnTo>
                  <a:pt x="2892248" y="0"/>
                </a:lnTo>
                <a:lnTo>
                  <a:pt x="2892248" y="793827"/>
                </a:lnTo>
                <a:lnTo>
                  <a:pt x="0" y="7938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893" t="0" r="-4893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603664" y="3534176"/>
            <a:ext cx="3853769" cy="2140983"/>
          </a:xfrm>
          <a:custGeom>
            <a:avLst/>
            <a:gdLst/>
            <a:ahLst/>
            <a:cxnLst/>
            <a:rect r="r" b="b" t="t" l="l"/>
            <a:pathLst>
              <a:path h="2140983" w="3853769">
                <a:moveTo>
                  <a:pt x="0" y="0"/>
                </a:moveTo>
                <a:lnTo>
                  <a:pt x="3853769" y="0"/>
                </a:lnTo>
                <a:lnTo>
                  <a:pt x="3853769" y="2140983"/>
                </a:lnTo>
                <a:lnTo>
                  <a:pt x="0" y="21409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460316" y="8116658"/>
            <a:ext cx="2347916" cy="531216"/>
          </a:xfrm>
          <a:custGeom>
            <a:avLst/>
            <a:gdLst/>
            <a:ahLst/>
            <a:cxnLst/>
            <a:rect r="r" b="b" t="t" l="l"/>
            <a:pathLst>
              <a:path h="531216" w="2347916">
                <a:moveTo>
                  <a:pt x="0" y="0"/>
                </a:moveTo>
                <a:lnTo>
                  <a:pt x="2347915" y="0"/>
                </a:lnTo>
                <a:lnTo>
                  <a:pt x="2347915" y="531216"/>
                </a:lnTo>
                <a:lnTo>
                  <a:pt x="0" y="53121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064725" y="920666"/>
            <a:ext cx="10196150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Machine Learning Models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521328" y="2993715"/>
            <a:ext cx="101961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Multiple machine learning algorithms were evaluated: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9614" y="4290545"/>
            <a:ext cx="39933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XGBoost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74822" y="8059508"/>
            <a:ext cx="3993317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R² Score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01649" y="8059508"/>
            <a:ext cx="406924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LightGBM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36857" y="5968376"/>
            <a:ext cx="406924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Root Mean Squared Error (RMSE)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1649" y="6268819"/>
            <a:ext cx="394917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Random Forest Regressor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28166" y="4368448"/>
            <a:ext cx="394917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Mean Absolute Error (MAE)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144000" y="2784165"/>
            <a:ext cx="8175021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best performing models were selected based on evaluation metrics such as: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331905" cy="10287000"/>
            <a:chOff x="0" y="0"/>
            <a:chExt cx="166766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766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667662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449607"/>
            <a:ext cx="8115300" cy="5319271"/>
            <a:chOff x="0" y="0"/>
            <a:chExt cx="10820400" cy="7092361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516" t="0" r="516" b="0"/>
            <a:stretch>
              <a:fillRect/>
            </a:stretch>
          </p:blipFill>
          <p:spPr>
            <a:xfrm flipH="false" flipV="false">
              <a:off x="0" y="0"/>
              <a:ext cx="10820400" cy="7092361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11573395" y="0"/>
            <a:ext cx="6714605" cy="10287000"/>
          </a:xfrm>
          <a:custGeom>
            <a:avLst/>
            <a:gdLst/>
            <a:ahLst/>
            <a:cxnLst/>
            <a:rect r="r" b="b" t="t" l="l"/>
            <a:pathLst>
              <a:path h="10287000" w="6714605">
                <a:moveTo>
                  <a:pt x="0" y="0"/>
                </a:moveTo>
                <a:lnTo>
                  <a:pt x="6714605" y="0"/>
                </a:lnTo>
                <a:lnTo>
                  <a:pt x="67146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95344"/>
            <a:ext cx="4955710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7200" i="true">
                <a:solidFill>
                  <a:srgbClr val="FFFFFF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Architecture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008057" y="6922476"/>
            <a:ext cx="5251243" cy="1846402"/>
            <a:chOff x="0" y="0"/>
            <a:chExt cx="7001658" cy="246186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483844"/>
              <a:ext cx="7001658" cy="1978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Runs Prediction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Wickets Prediction</a:t>
              </a:r>
            </a:p>
            <a:p>
              <a:pPr algn="l" marL="0" indent="0" lvl="0">
                <a:lnSpc>
                  <a:spcPts val="407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700165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</a:pPr>
              <a:r>
                <a:rPr lang="en-US" b="true" sz="2400">
                  <a:solidFill>
                    <a:srgbClr val="2D388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Separate models were trained for: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08057" y="3191599"/>
            <a:ext cx="5251243" cy="3903802"/>
            <a:chOff x="0" y="0"/>
            <a:chExt cx="7001658" cy="520506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483844"/>
              <a:ext cx="7001658" cy="4721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Collection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 Cleaning &amp; Preprocessing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Feature Engineering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Training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Evaluation</a:t>
              </a:r>
            </a:p>
            <a:p>
              <a:pPr algn="l" marL="518160" indent="-259080" lvl="1">
                <a:lnSpc>
                  <a:spcPts val="4079"/>
                </a:lnSpc>
                <a:buFont typeface="Arial"/>
                <a:buChar char="•"/>
              </a:pPr>
              <a:r>
                <a:rPr lang="en-US" sz="2400">
                  <a:solidFill>
                    <a:srgbClr val="2D388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Deployment using Streamlit</a:t>
              </a:r>
            </a:p>
            <a:p>
              <a:pPr algn="l" marL="0" indent="0" lvl="0">
                <a:lnSpc>
                  <a:spcPts val="407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23825"/>
              <a:ext cx="7001658" cy="606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</a:pPr>
              <a:r>
                <a:rPr lang="en-US" b="true" sz="2400">
                  <a:solidFill>
                    <a:srgbClr val="2D388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System workflow: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22170"/>
            <a:ext cx="8115300" cy="3233058"/>
            <a:chOff x="0" y="0"/>
            <a:chExt cx="2137363" cy="851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851505"/>
            </a:xfrm>
            <a:custGeom>
              <a:avLst/>
              <a:gdLst/>
              <a:ahLst/>
              <a:cxnLst/>
              <a:rect r="r" b="b" t="t" l="l"/>
              <a:pathLst>
                <a:path h="851505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851505"/>
                  </a:lnTo>
                  <a:lnTo>
                    <a:pt x="0" y="851505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137363" cy="908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122170"/>
            <a:ext cx="8115300" cy="3233058"/>
            <a:chOff x="0" y="0"/>
            <a:chExt cx="2137363" cy="8515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363" cy="851505"/>
            </a:xfrm>
            <a:custGeom>
              <a:avLst/>
              <a:gdLst/>
              <a:ahLst/>
              <a:cxnLst/>
              <a:rect r="r" b="b" t="t" l="l"/>
              <a:pathLst>
                <a:path h="851505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851505"/>
                  </a:lnTo>
                  <a:lnTo>
                    <a:pt x="0" y="851505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37363" cy="908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6031503"/>
            <a:ext cx="8115300" cy="3226797"/>
            <a:chOff x="0" y="0"/>
            <a:chExt cx="2137363" cy="8498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849856"/>
            </a:xfrm>
            <a:custGeom>
              <a:avLst/>
              <a:gdLst/>
              <a:ahLst/>
              <a:cxnLst/>
              <a:rect r="r" b="b" t="t" l="l"/>
              <a:pathLst>
                <a:path h="849856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849856"/>
                  </a:lnTo>
                  <a:lnTo>
                    <a:pt x="0" y="849856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137363" cy="907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6025242"/>
            <a:ext cx="8115300" cy="3233058"/>
            <a:chOff x="0" y="0"/>
            <a:chExt cx="2137363" cy="8515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7363" cy="851505"/>
            </a:xfrm>
            <a:custGeom>
              <a:avLst/>
              <a:gdLst/>
              <a:ahLst/>
              <a:cxnLst/>
              <a:rect r="r" b="b" t="t" l="l"/>
              <a:pathLst>
                <a:path h="851505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851505"/>
                  </a:lnTo>
                  <a:lnTo>
                    <a:pt x="0" y="851505"/>
                  </a:ln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37363" cy="908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99633" y="2865995"/>
            <a:ext cx="3573434" cy="1091882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299633" y="6546676"/>
            <a:ext cx="3573434" cy="1091882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235273" y="2867077"/>
            <a:ext cx="3573434" cy="1091882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1201734" y="2877558"/>
            <a:ext cx="2158061" cy="2158061"/>
          </a:xfrm>
          <a:custGeom>
            <a:avLst/>
            <a:gdLst/>
            <a:ahLst/>
            <a:cxnLst/>
            <a:rect r="r" b="b" t="t" l="l"/>
            <a:pathLst>
              <a:path h="2158061" w="2158061">
                <a:moveTo>
                  <a:pt x="0" y="0"/>
                </a:moveTo>
                <a:lnTo>
                  <a:pt x="2158061" y="0"/>
                </a:lnTo>
                <a:lnTo>
                  <a:pt x="2158061" y="2158061"/>
                </a:lnTo>
                <a:lnTo>
                  <a:pt x="0" y="2158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52919" y="2877558"/>
            <a:ext cx="2046437" cy="2158061"/>
          </a:xfrm>
          <a:custGeom>
            <a:avLst/>
            <a:gdLst/>
            <a:ahLst/>
            <a:cxnLst/>
            <a:rect r="r" b="b" t="t" l="l"/>
            <a:pathLst>
              <a:path h="2158061" w="2046437">
                <a:moveTo>
                  <a:pt x="0" y="0"/>
                </a:moveTo>
                <a:lnTo>
                  <a:pt x="2046437" y="0"/>
                </a:lnTo>
                <a:lnTo>
                  <a:pt x="2046437" y="2158061"/>
                </a:lnTo>
                <a:lnTo>
                  <a:pt x="0" y="21580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79687" y="6580250"/>
            <a:ext cx="2118390" cy="2130644"/>
          </a:xfrm>
          <a:custGeom>
            <a:avLst/>
            <a:gdLst/>
            <a:ahLst/>
            <a:cxnLst/>
            <a:rect r="r" b="b" t="t" l="l"/>
            <a:pathLst>
              <a:path h="2130644" w="2118390">
                <a:moveTo>
                  <a:pt x="0" y="0"/>
                </a:moveTo>
                <a:lnTo>
                  <a:pt x="2118391" y="0"/>
                </a:lnTo>
                <a:lnTo>
                  <a:pt x="2118391" y="2130645"/>
                </a:lnTo>
                <a:lnTo>
                  <a:pt x="0" y="21306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8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66579" y="6771822"/>
            <a:ext cx="1966480" cy="1939072"/>
          </a:xfrm>
          <a:custGeom>
            <a:avLst/>
            <a:gdLst/>
            <a:ahLst/>
            <a:cxnLst/>
            <a:rect r="r" b="b" t="t" l="l"/>
            <a:pathLst>
              <a:path h="1939072" w="1966480">
                <a:moveTo>
                  <a:pt x="0" y="0"/>
                </a:moveTo>
                <a:lnTo>
                  <a:pt x="1966480" y="0"/>
                </a:lnTo>
                <a:lnTo>
                  <a:pt x="1966480" y="1939073"/>
                </a:lnTo>
                <a:lnTo>
                  <a:pt x="0" y="19390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190438" y="742950"/>
            <a:ext cx="990712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Results &amp; Performance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69345" y="3745817"/>
            <a:ext cx="55363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Accurate prediction of player runs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07628" y="7507778"/>
            <a:ext cx="55363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Improved performance using engineered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71159" y="3878177"/>
            <a:ext cx="55363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Reliable prediction of bowler wickets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42734" y="7609253"/>
            <a:ext cx="5536372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D38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Consistent results across multiple test scenarios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444948" y="6780356"/>
            <a:ext cx="3573434" cy="10918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87794" y="64770"/>
            <a:ext cx="3700206" cy="3803950"/>
          </a:xfrm>
          <a:custGeom>
            <a:avLst/>
            <a:gdLst/>
            <a:ahLst/>
            <a:cxnLst/>
            <a:rect r="r" b="b" t="t" l="l"/>
            <a:pathLst>
              <a:path h="3803950" w="3700206">
                <a:moveTo>
                  <a:pt x="0" y="0"/>
                </a:moveTo>
                <a:lnTo>
                  <a:pt x="3700206" y="0"/>
                </a:lnTo>
                <a:lnTo>
                  <a:pt x="3700206" y="3803950"/>
                </a:lnTo>
                <a:lnTo>
                  <a:pt x="0" y="3803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973" y="2774277"/>
            <a:ext cx="8071107" cy="5380738"/>
          </a:xfrm>
          <a:custGeom>
            <a:avLst/>
            <a:gdLst/>
            <a:ahLst/>
            <a:cxnLst/>
            <a:rect r="r" b="b" t="t" l="l"/>
            <a:pathLst>
              <a:path h="5380738" w="8071107">
                <a:moveTo>
                  <a:pt x="0" y="0"/>
                </a:moveTo>
                <a:lnTo>
                  <a:pt x="8071106" y="0"/>
                </a:lnTo>
                <a:lnTo>
                  <a:pt x="8071106" y="5380737"/>
                </a:lnTo>
                <a:lnTo>
                  <a:pt x="0" y="5380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95350"/>
            <a:ext cx="7571652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Challenges Faced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1586" y="3102445"/>
            <a:ext cx="7016355" cy="460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Some challenges encountered: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Missing and inconsistent data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Feature selection complexity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overfitting risk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Large dataset processing time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Opponent-specific statistics computation</a:t>
            </a:r>
          </a:p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2D388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These were addressed through preprocessing and tuning.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809790" y="5868318"/>
            <a:ext cx="4478210" cy="4478210"/>
          </a:xfrm>
          <a:custGeom>
            <a:avLst/>
            <a:gdLst/>
            <a:ahLst/>
            <a:cxnLst/>
            <a:rect r="r" b="b" t="t" l="l"/>
            <a:pathLst>
              <a:path h="4478210" w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239105" y="2511369"/>
          <a:ext cx="13948545" cy="5264263"/>
        </p:xfrm>
        <a:graphic>
          <a:graphicData uri="http://schemas.openxmlformats.org/drawingml/2006/table">
            <a:tbl>
              <a:tblPr/>
              <a:tblGrid>
                <a:gridCol w="3501282"/>
                <a:gridCol w="4147163"/>
                <a:gridCol w="6300100"/>
              </a:tblGrid>
              <a:tr h="7483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Category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Enhancement 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Description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9DE4"/>
                    </a:solidFill>
                  </a:tcPr>
                </a:tc>
              </a:tr>
              <a:tr h="158716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Data Improvements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Real-Time &amp; Advanced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Integrate live match data, include advanced player metrics like strike rate, economy, fitness, and expand dataset coverage.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  <a:tr h="15170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Model Enhancements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Intelligent Prediction Models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Apply deep learning techniques, context-aware features (pitch, weather), and optimize models using tuning and ensembles.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  <a:tr h="1411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System &amp; User Features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Application &amp; Visualization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99"/>
                        </a:lnSpc>
                        <a:defRPr/>
                      </a:pPr>
                      <a:r>
                        <a:rPr lang="en-US" sz="14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Apply deep learning techniques, context-aware features (pitch, weather), and optimize models using tuning and ensembles.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8382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EB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0" y="0"/>
            <a:ext cx="4478210" cy="3525572"/>
          </a:xfrm>
          <a:custGeom>
            <a:avLst/>
            <a:gdLst/>
            <a:ahLst/>
            <a:cxnLst/>
            <a:rect r="r" b="b" t="t" l="l"/>
            <a:pathLst>
              <a:path h="3525572" w="4478210">
                <a:moveTo>
                  <a:pt x="0" y="0"/>
                </a:moveTo>
                <a:lnTo>
                  <a:pt x="4478210" y="0"/>
                </a:lnTo>
                <a:lnTo>
                  <a:pt x="4478210" y="3525572"/>
                </a:lnTo>
                <a:lnTo>
                  <a:pt x="0" y="35255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0951" y="895350"/>
            <a:ext cx="1072609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2D3880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Future Enhancements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493020"/>
            <a:ext cx="18288000" cy="6043361"/>
            <a:chOff x="0" y="0"/>
            <a:chExt cx="4816593" cy="15916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91667"/>
            </a:xfrm>
            <a:custGeom>
              <a:avLst/>
              <a:gdLst/>
              <a:ahLst/>
              <a:cxnLst/>
              <a:rect r="r" b="b" t="t" l="l"/>
              <a:pathLst>
                <a:path h="1591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1667"/>
                  </a:lnTo>
                  <a:lnTo>
                    <a:pt x="0" y="1591667"/>
                  </a:lnTo>
                  <a:close/>
                </a:path>
              </a:pathLst>
            </a:custGeom>
            <a:solidFill>
              <a:srgbClr val="9D9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1658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This project successfully demonstrates how machine learning can be applied to sports analytics.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Key achievements:</a:t>
              </a:r>
            </a:p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Built predictive models for cricket performance</a:t>
              </a:r>
            </a:p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Developed an interactive dashboard</a:t>
              </a:r>
            </a:p>
            <a:p>
              <a:pPr algn="l" marL="690876" indent="-345438" lvl="1">
                <a:lnSpc>
                  <a:spcPts val="4479"/>
                </a:lnSpc>
                <a:buFont typeface="Arial"/>
                <a:buChar char="•"/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Provided data-driven insights for decision making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The system highlights the potential of AI in transforming sports analytics.</a:t>
              </a:r>
            </a:p>
            <a:p>
              <a:pPr algn="l">
                <a:lnSpc>
                  <a:spcPts val="44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540982" y="895350"/>
            <a:ext cx="10168489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080"/>
              </a:lnSpc>
              <a:spcBef>
                <a:spcPct val="0"/>
              </a:spcBef>
            </a:pPr>
            <a:r>
              <a:rPr lang="en-US" b="true" sz="7200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0" y="23130"/>
            <a:ext cx="5372897" cy="2276154"/>
          </a:xfrm>
          <a:custGeom>
            <a:avLst/>
            <a:gdLst/>
            <a:ahLst/>
            <a:cxnLst/>
            <a:rect r="r" b="b" t="t" l="l"/>
            <a:pathLst>
              <a:path h="2276154" w="5372897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915103" y="23731"/>
            <a:ext cx="5372897" cy="2276154"/>
          </a:xfrm>
          <a:custGeom>
            <a:avLst/>
            <a:gdLst/>
            <a:ahLst/>
            <a:cxnLst/>
            <a:rect r="r" b="b" t="t" l="l"/>
            <a:pathLst>
              <a:path h="2276154" w="5372897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066628" cy="10287000"/>
          </a:xfrm>
          <a:custGeom>
            <a:avLst/>
            <a:gdLst/>
            <a:ahLst/>
            <a:cxnLst/>
            <a:rect r="r" b="b" t="t" l="l"/>
            <a:pathLst>
              <a:path h="10287000" w="13066628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5419727"/>
            <a:ext cx="8115300" cy="206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10"/>
              </a:lnSpc>
            </a:pPr>
            <a:r>
              <a:rPr lang="en-US" b="true" sz="12007" i="true">
                <a:solidFill>
                  <a:srgbClr val="2D3880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DAHB8eHzKio</dc:identifier>
  <dcterms:modified xsi:type="dcterms:W3CDTF">2011-08-01T06:04:30Z</dcterms:modified>
  <cp:revision>1</cp:revision>
  <dc:title>AI in Sports Analytics: IPL Player Performance Prediction</dc:title>
</cp:coreProperties>
</file>