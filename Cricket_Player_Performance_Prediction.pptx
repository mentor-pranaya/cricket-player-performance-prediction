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🏏 Cricket Player Performance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039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CBD5E1"/>
                </a:solidFill>
                <a:latin typeface="Calibri"/>
              </a:rPr>
              <a:t>Predicting IPL batsman runs &amp; bowler wickets using ML
Random Forest  •  </a:t>
            </a:r>
            <a:r>
              <a:rPr sz="2200" b="0" dirty="0" err="1">
                <a:solidFill>
                  <a:srgbClr val="CBD5E1"/>
                </a:solidFill>
                <a:latin typeface="Calibri"/>
              </a:rPr>
              <a:t>XGBoost</a:t>
            </a:r>
            <a:r>
              <a:rPr sz="2200" b="0" dirty="0">
                <a:solidFill>
                  <a:srgbClr val="CBD5E1"/>
                </a:solidFill>
                <a:latin typeface="Calibri"/>
              </a:rPr>
              <a:t>  •  SHAP  •  </a:t>
            </a:r>
            <a:r>
              <a:rPr sz="2200" b="0" dirty="0" err="1">
                <a:solidFill>
                  <a:srgbClr val="CBD5E1"/>
                </a:solidFill>
                <a:latin typeface="Calibri"/>
              </a:rPr>
              <a:t>Streamlit</a:t>
            </a:r>
            <a:r>
              <a:rPr sz="2200" b="0" dirty="0">
                <a:solidFill>
                  <a:srgbClr val="CBD5E1"/>
                </a:solidFill>
                <a:latin typeface="Calibri"/>
              </a:rPr>
              <a:t> Dashboard</a:t>
            </a:r>
            <a:endParaRPr lang="en-IN" sz="2200" b="0" dirty="0">
              <a:solidFill>
                <a:srgbClr val="CBD5E1"/>
              </a:solidFill>
              <a:latin typeface="Calibri"/>
            </a:endParaRPr>
          </a:p>
          <a:p>
            <a:pPr algn="ctr"/>
            <a:r>
              <a:rPr lang="en-IN" sz="2200" dirty="0">
                <a:solidFill>
                  <a:srgbClr val="CBD5E1"/>
                </a:solidFill>
                <a:latin typeface="Calibri"/>
              </a:rPr>
              <a:t>- Rajiv Reddy Bathula</a:t>
            </a:r>
            <a:endParaRPr sz="2200" b="0" dirty="0">
              <a:solidFill>
                <a:srgbClr val="CBD5E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C9A7"/>
                </a:solidFill>
                <a:latin typeface="Calibri"/>
              </a:rPr>
              <a:t>Problem Statement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Goal: Predict individual IPL player performance for their NEXT match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       ◦  </a:t>
            </a:r>
            <a:r>
              <a:rPr sz="1400" b="0">
                <a:solidFill>
                  <a:srgbClr val="CBD5E1"/>
                </a:solidFill>
                <a:latin typeface="Calibri"/>
              </a:rPr>
              <a:t>Batsman → Runs scored  |  Bowler → Wickets taken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Dataset: IPL ball-by-ball data (Kaggle) — 278,205 deliveries, 1,169 matches, 2008–2025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Only historical data used (no future leakage) — shift(1) on all features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Deliver via interactive Streamlit dashboard with SHAP explainability</a:t>
            </a:r>
          </a:p>
          <a:p>
            <a:pPr>
              <a:spcAft>
                <a:spcPts val="200"/>
              </a:spcAft>
            </a:pPr>
            <a:endParaRPr sz="1600" b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Tech: Python, pandas, scikit-learn, XGBoost, SHAP, Plotly, Streamlit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Models: Random Forest Regressor (deployed) + XGBoost (backup)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23 files total: 5 notebooks, 2 scripts, 6 model .pkl, 8 data CSVs, 2 docs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C9A7"/>
                </a:solidFill>
                <a:latin typeface="Calibri"/>
              </a:rPr>
              <a:t>Milestone 1: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Raw: 278,205 ball-by-ball rows × 64 columns → cleaned to 53 columns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Dropped 11 irrelevant columns (review fields, umpire, superover data)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Filtered to Indian Premier League matches only, sorted chronologically</a:t>
            </a:r>
          </a:p>
          <a:p>
            <a:pPr>
              <a:spcAft>
                <a:spcPts val="200"/>
              </a:spcAft>
            </a:pPr>
            <a:endParaRPr sz="1600" b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Aggregated to player-match level: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       ◦  </a:t>
            </a:r>
            <a:r>
              <a:rPr sz="1400" b="0">
                <a:solidFill>
                  <a:srgbClr val="CBD5E1"/>
                </a:solidFill>
                <a:latin typeface="Calibri"/>
              </a:rPr>
              <a:t>Batsman: 17,640 rows (runs, balls_faced, boundaries, strike_rate, batting_first)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       ◦  </a:t>
            </a:r>
            <a:r>
              <a:rPr sz="1400" b="0">
                <a:solidFill>
                  <a:srgbClr val="CBD5E1"/>
                </a:solidFill>
                <a:latin typeface="Calibri"/>
              </a:rPr>
              <a:t>Bowler: 13,865 rows (wickets, runs_conceded, economy, overs_bowled, bowling_first)</a:t>
            </a:r>
          </a:p>
          <a:p>
            <a:pPr>
              <a:spcAft>
                <a:spcPts val="200"/>
              </a:spcAft>
            </a:pPr>
            <a:endParaRPr sz="1400" b="0">
              <a:solidFill>
                <a:srgbClr val="CBD5E1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Target variable = NEXT match performance via groupby(player).shift(-1)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Filtered to players with ≥20 matches: 226 batsmen, 190 bowlers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Target — Runs: mean=21.7, median=15  |  Wickets: mean=1.01, median=1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C9A7"/>
                </a:solidFill>
                <a:latin typeface="Calibri"/>
              </a:rPr>
              <a:t>Milestone 2: Feature Engineering (57/56 features)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All features use shift(1) — only past matches used, zero data leakage</a:t>
            </a:r>
          </a:p>
          <a:p>
            <a:pPr>
              <a:spcAft>
                <a:spcPts val="200"/>
              </a:spcAft>
            </a:pPr>
            <a:endParaRPr sz="1600" b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Rolling Averages (12 each): runs/wickets/economy/SR over last 3, 5, 10 matches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Career Statistics (7-8): career_avg, career_matches, career_strike_rate, career_economy, etc.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Venue-Specific (4 each): avg performance at venue, venue familiarity flag (≥3 matches)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Opponent-Specific (3 each): avg performance vs specific team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Contextual (5 each): is_home_match, days_since_last_match, season_matches, form_indicator, performance_trend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Advanced (4 each): consistency_score, momentum_score, boundary_dependency / wicket_taking_rate, experience_level</a:t>
            </a:r>
          </a:p>
          <a:p>
            <a:pPr>
              <a:spcAft>
                <a:spcPts val="200"/>
              </a:spcAft>
            </a:pPr>
            <a:endParaRPr sz="1600" b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Output: batsman_features_final.csv (14,805 × 57), bowler_features_final.csv (11,542 × 56)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C9A7"/>
                </a:solidFill>
                <a:latin typeface="Calibri"/>
              </a:rPr>
              <a:t>Milestone 3: 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Time-series split (no random shuffle — mimics real-world usage):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       ◦  </a:t>
            </a:r>
            <a:r>
              <a:rPr sz="1400" b="0">
                <a:solidFill>
                  <a:srgbClr val="CBD5E1"/>
                </a:solidFill>
                <a:latin typeface="Calibri"/>
              </a:rPr>
              <a:t>Train: &lt; 2023  |  Validation: 2023  |  Test: ≥ 2024</a:t>
            </a:r>
          </a:p>
          <a:p>
            <a:pPr>
              <a:spcAft>
                <a:spcPts val="200"/>
              </a:spcAft>
            </a:pPr>
            <a:endParaRPr sz="1400" b="0">
              <a:solidFill>
                <a:srgbClr val="CBD5E1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Preprocessing (inside sklearn Pipeline):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       ◦  </a:t>
            </a:r>
            <a:r>
              <a:rPr sz="1400" b="0">
                <a:solidFill>
                  <a:srgbClr val="CBD5E1"/>
                </a:solidFill>
                <a:latin typeface="Calibri"/>
              </a:rPr>
              <a:t>37/36 numeric features → StandardScaler  |  6 categoricals → OneHotEncoder</a:t>
            </a:r>
          </a:p>
          <a:p>
            <a:pPr>
              <a:spcAft>
                <a:spcPts val="200"/>
              </a:spcAft>
            </a:pPr>
            <a:endParaRPr sz="1400" b="0">
              <a:solidFill>
                <a:srgbClr val="CBD5E1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Random Forest: n_estimators=200, max_depth=10, min_samples_split=10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XGBoost: n_estimators=500, max_depth=6, lr=0.1, early_stopping_rounds=20</a:t>
            </a:r>
          </a:p>
          <a:p>
            <a:pPr>
              <a:spcAft>
                <a:spcPts val="200"/>
              </a:spcAft>
            </a:pPr>
            <a:endParaRPr sz="1600" b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Artifacts saved: 2 RF Pipelines (.pkl), 2 XGBoost models, 2 standalone preprocessors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C9A7"/>
                </a:solidFill>
                <a:latin typeface="Calibri"/>
              </a:rPr>
              <a:t>Model Performance — Test Set MAE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5120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3716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8C42"/>
                </a:solidFill>
                <a:latin typeface="Calibri"/>
              </a:rPr>
              <a:t>🏏 Batsman (Predicting Runs)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202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00C9A7"/>
                </a:solidFill>
                <a:latin typeface="Calibri"/>
              </a:rPr>
              <a:t>▸  </a:t>
            </a:r>
            <a:r>
              <a:rPr sz="1400" b="0">
                <a:solidFill>
                  <a:srgbClr val="CBD5E1"/>
                </a:solidFill>
                <a:latin typeface="Calibri"/>
              </a:rPr>
              <a:t>Mean Baseline MAE: 18.16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00C9A7"/>
                </a:solidFill>
                <a:latin typeface="Calibri"/>
              </a:rPr>
              <a:t>▸  </a:t>
            </a:r>
            <a:r>
              <a:rPr sz="1400" b="0">
                <a:solidFill>
                  <a:srgbClr val="CBD5E1"/>
                </a:solidFill>
                <a:latin typeface="Calibri"/>
              </a:rPr>
              <a:t>Smart Baseline (rolling avg): 17.56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00C9A7"/>
                </a:solidFill>
                <a:latin typeface="Calibri"/>
              </a:rPr>
              <a:t>▸  </a:t>
            </a:r>
            <a:r>
              <a:rPr sz="1400" b="0">
                <a:solidFill>
                  <a:srgbClr val="CBD5E1"/>
                </a:solidFill>
                <a:latin typeface="Calibri"/>
              </a:rPr>
              <a:t>Random Forest MAE: 10.80 ✅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00C9A7"/>
                </a:solidFill>
                <a:latin typeface="Calibri"/>
              </a:rPr>
              <a:t>▸  </a:t>
            </a:r>
            <a:r>
              <a:rPr sz="1400" b="0">
                <a:solidFill>
                  <a:srgbClr val="CBD5E1"/>
                </a:solidFill>
                <a:latin typeface="Calibri"/>
              </a:rPr>
              <a:t>XGBoost MAE: ~11.06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00C9A7"/>
                </a:solidFill>
                <a:latin typeface="Calibri"/>
              </a:rPr>
              <a:t>▸  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00C9A7"/>
                </a:solidFill>
                <a:latin typeface="Calibri"/>
              </a:rPr>
              <a:t>▸  </a:t>
            </a:r>
            <a:r>
              <a:rPr sz="1400" b="0">
                <a:solidFill>
                  <a:srgbClr val="CBD5E1"/>
                </a:solidFill>
                <a:latin typeface="Calibri"/>
              </a:rPr>
              <a:t>40% improvement over mean baseline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00C9A7"/>
                </a:solidFill>
                <a:latin typeface="Calibri"/>
              </a:rPr>
              <a:t>▸  </a:t>
            </a:r>
            <a:r>
              <a:rPr sz="1400" b="0">
                <a:solidFill>
                  <a:srgbClr val="CBD5E1"/>
                </a:solidFill>
                <a:latin typeface="Calibri"/>
              </a:rPr>
              <a:t>38% improvement over smart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5120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8C42"/>
                </a:solidFill>
                <a:latin typeface="Calibri"/>
              </a:rPr>
              <a:t>🥎 Bowler (Predicting Wickets)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00C9A7"/>
                </a:solidFill>
                <a:latin typeface="Calibri"/>
              </a:rPr>
              <a:t>▸  </a:t>
            </a:r>
            <a:r>
              <a:rPr sz="1400" b="0">
                <a:solidFill>
                  <a:srgbClr val="CBD5E1"/>
                </a:solidFill>
                <a:latin typeface="Calibri"/>
              </a:rPr>
              <a:t>Mean Baseline MAE: 0.816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00C9A7"/>
                </a:solidFill>
                <a:latin typeface="Calibri"/>
              </a:rPr>
              <a:t>▸  </a:t>
            </a:r>
            <a:r>
              <a:rPr sz="1400" b="0">
                <a:solidFill>
                  <a:srgbClr val="CBD5E1"/>
                </a:solidFill>
                <a:latin typeface="Calibri"/>
              </a:rPr>
              <a:t>Smart Baseline (rolling avg): 0.879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00C9A7"/>
                </a:solidFill>
                <a:latin typeface="Calibri"/>
              </a:rPr>
              <a:t>▸  </a:t>
            </a:r>
            <a:r>
              <a:rPr sz="1400" b="0">
                <a:solidFill>
                  <a:srgbClr val="CBD5E1"/>
                </a:solidFill>
                <a:latin typeface="Calibri"/>
              </a:rPr>
              <a:t>Random Forest MAE: 0.846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00C9A7"/>
                </a:solidFill>
                <a:latin typeface="Calibri"/>
              </a:rPr>
              <a:t>▸  </a:t>
            </a:r>
            <a:r>
              <a:rPr sz="1400" b="0">
                <a:solidFill>
                  <a:srgbClr val="CBD5E1"/>
                </a:solidFill>
                <a:latin typeface="Calibri"/>
              </a:rPr>
              <a:t>XGBoost MAE: ~0.880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00C9A7"/>
                </a:solidFill>
                <a:latin typeface="Calibri"/>
              </a:rPr>
              <a:t>▸  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00C9A7"/>
                </a:solidFill>
                <a:latin typeface="Calibri"/>
              </a:rPr>
              <a:t>▸  </a:t>
            </a:r>
            <a:r>
              <a:rPr sz="1400" b="0">
                <a:solidFill>
                  <a:srgbClr val="CBD5E1"/>
                </a:solidFill>
                <a:latin typeface="Calibri"/>
              </a:rPr>
              <a:t>Wickets are discrete (0–4) with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00C9A7"/>
                </a:solidFill>
                <a:latin typeface="Calibri"/>
              </a:rPr>
              <a:t>▸  </a:t>
            </a:r>
            <a:r>
              <a:rPr sz="1400" b="0">
                <a:solidFill>
                  <a:srgbClr val="CBD5E1"/>
                </a:solidFill>
                <a:latin typeface="Calibri"/>
              </a:rPr>
              <a:t>high variance — inherently harder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C9A7"/>
                </a:solidFill>
                <a:latin typeface="Calibri"/>
              </a:rPr>
              <a:t>Production Serving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prepare_production_data.py generates 6 lookup CSVs from feature data:</a:t>
            </a:r>
          </a:p>
          <a:p>
            <a:pPr>
              <a:spcAft>
                <a:spcPts val="200"/>
              </a:spcAft>
            </a:pPr>
            <a:endParaRPr sz="1600" b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Base Player State (1 per type): Last match per player with volatile features smoothed over 5 matches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       ◦  </a:t>
            </a:r>
            <a:r>
              <a:rPr sz="1400" b="0">
                <a:solidFill>
                  <a:srgbClr val="CBD5E1"/>
                </a:solidFill>
                <a:latin typeface="Calibri"/>
              </a:rPr>
              <a:t>Smoothed: form_indicator, momentum_score, consistency_score, wicket_taking_rate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       ◦  </a:t>
            </a:r>
            <a:r>
              <a:rPr sz="1400" b="0">
                <a:solidFill>
                  <a:srgbClr val="CBD5E1"/>
                </a:solidFill>
                <a:latin typeface="Calibri"/>
              </a:rPr>
              <a:t>Prevents single-game noise (e.g., Bumrah 0 wickets in 1 match ≠ his true ability)</a:t>
            </a:r>
          </a:p>
          <a:p>
            <a:pPr>
              <a:spcAft>
                <a:spcPts val="200"/>
              </a:spcAft>
            </a:pPr>
            <a:endParaRPr sz="1400" b="0">
              <a:solidFill>
                <a:srgbClr val="CBD5E1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Opponent Lookup (1 per type): Historical avg performance vs each opponent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Venue Lookup (1 per type): Historical avg performance at each venue</a:t>
            </a:r>
          </a:p>
          <a:p>
            <a:pPr>
              <a:spcAft>
                <a:spcPts val="200"/>
              </a:spcAft>
            </a:pPr>
            <a:endParaRPr sz="1600" b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All 6 CSVs loaded at app startup via @st.cache_resource for instant predictions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C9A7"/>
                </a:solidFill>
                <a:latin typeface="Calibri"/>
              </a:rPr>
              <a:t>Streamlit Dashboard — Interactive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Sidebar: Select Player → Opponent → Venue → Innings → Run Prediction</a:t>
            </a:r>
          </a:p>
          <a:p>
            <a:pPr>
              <a:spcAft>
                <a:spcPts val="200"/>
              </a:spcAft>
            </a:pPr>
            <a:endParaRPr sz="1600" b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Prediction Flow: Base row → Inject dynamic features → Enrich from lookups → RF Pipeline.predict()</a:t>
            </a:r>
          </a:p>
          <a:p>
            <a:pPr>
              <a:spcAft>
                <a:spcPts val="200"/>
              </a:spcAft>
            </a:pPr>
            <a:endParaRPr sz="1600" b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4 Visualization Panels: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       ◦  </a:t>
            </a:r>
            <a:r>
              <a:rPr sz="1400" b="0">
                <a:solidFill>
                  <a:srgbClr val="CBD5E1"/>
                </a:solidFill>
                <a:latin typeface="Calibri"/>
              </a:rPr>
              <a:t>📊 Prediction Metrics: 3 cards (predicted value, vs-opponent avg, at-venue avg)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       ◦  </a:t>
            </a:r>
            <a:r>
              <a:rPr sz="1400" b="0">
                <a:solidFill>
                  <a:srgbClr val="CBD5E1"/>
                </a:solidFill>
                <a:latin typeface="Calibri"/>
              </a:rPr>
              <a:t>📈 Form Trend Chart: Last 20 matches as bar chart + 5-match rolling avg line + career avg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       ◦  </a:t>
            </a:r>
            <a:r>
              <a:rPr sz="1400" b="0">
                <a:solidFill>
                  <a:srgbClr val="CBD5E1"/>
                </a:solidFill>
                <a:latin typeface="Calibri"/>
              </a:rPr>
              <a:t>🔍 SHAP Feature Importance: Top 15 features via TreeExplainer (green = +, red = −)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       ◦  </a:t>
            </a:r>
            <a:r>
              <a:rPr sz="1400" b="0">
                <a:solidFill>
                  <a:srgbClr val="CBD5E1"/>
                </a:solidFill>
                <a:latin typeface="Calibri"/>
              </a:rPr>
              <a:t>📊 Player Profile: Career stats cards + venue history chart + opponent history chart</a:t>
            </a:r>
          </a:p>
          <a:p>
            <a:pPr>
              <a:spcAft>
                <a:spcPts val="200"/>
              </a:spcAft>
            </a:pPr>
            <a:endParaRPr sz="1400" b="0">
              <a:solidFill>
                <a:srgbClr val="CBD5E1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Only 10 current IPL teams shown, defunct teams filtered 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C9A7"/>
                </a:solidFill>
                <a:latin typeface="Calibri"/>
              </a:rPr>
              <a:t>Key Bugs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DTYPE CORRUPTION: .to_frame().T converted all features to string → model predicted zeros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       ◦  </a:t>
            </a:r>
            <a:r>
              <a:rPr sz="1400" b="0">
                <a:solidFill>
                  <a:srgbClr val="CBD5E1"/>
                </a:solidFill>
                <a:latin typeface="Calibri"/>
              </a:rPr>
              <a:t>Fix: pd.DataFrame([base_row]) preserves int64/float64 dtypes</a:t>
            </a:r>
          </a:p>
          <a:p>
            <a:pPr>
              <a:spcAft>
                <a:spcPts val="200"/>
              </a:spcAft>
            </a:pPr>
            <a:endParaRPr sz="1400" b="0">
              <a:solidFill>
                <a:srgbClr val="CBD5E1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FEATURE LEAKAGE: wicket_taking_rate used current-match data → fake MAE of 0.115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       ◦  </a:t>
            </a:r>
            <a:r>
              <a:rPr sz="1400" b="0">
                <a:solidFill>
                  <a:srgbClr val="CBD5E1"/>
                </a:solidFill>
                <a:latin typeface="Calibri"/>
              </a:rPr>
              <a:t>Fix: Recomputed with shift(1).rolling(5).mean(), retrained → realistic MAE of 0.846</a:t>
            </a:r>
          </a:p>
          <a:p>
            <a:pPr>
              <a:spcAft>
                <a:spcPts val="200"/>
              </a:spcAft>
            </a:pPr>
            <a:endParaRPr sz="1400" b="0">
              <a:solidFill>
                <a:srgbClr val="CBD5E1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VOLATILE NOISE: Single-match snapshots dominated predictions (e.g., Bumrah always 0)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       ◦  </a:t>
            </a:r>
            <a:r>
              <a:rPr sz="1400" b="0">
                <a:solidFill>
                  <a:srgbClr val="CBD5E1"/>
                </a:solidFill>
                <a:latin typeface="Calibri"/>
              </a:rPr>
              <a:t>Fix: Smoothed volatile features over last 5 matches in production data</a:t>
            </a:r>
          </a:p>
          <a:p>
            <a:pPr>
              <a:spcAft>
                <a:spcPts val="200"/>
              </a:spcAft>
            </a:pPr>
            <a:endParaRPr sz="1400" b="0">
              <a:solidFill>
                <a:srgbClr val="CBD5E1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OTHER: Stale batting_first, defunct teams in dropdown, negative predictions possible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       ◦  </a:t>
            </a:r>
            <a:r>
              <a:rPr sz="1400" b="0">
                <a:solidFill>
                  <a:srgbClr val="CBD5E1"/>
                </a:solidFill>
                <a:latin typeface="Calibri"/>
              </a:rPr>
              <a:t>Fix: Derived from innings selection, filtered teams, clamped with max(0, pred)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C9A7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End-to-end ML pipeline: Raw CSV → Feature engineering → Training → Serving → Dashboard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57/56 engineered features per player — all leak-free with shift(1)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Time-series split prevents future data leakage in evaluation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Random Forest: 40% improvement over baseline for batsman run prediction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SHAP explainability shows which features drive each individual prediction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Production pipeline smooths volatile features to prevent single-match noise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Interactive dashboard with real-time predictions for 226 batsmen and 190 bowlers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C9A7"/>
                </a:solidFill>
                <a:latin typeface="Calibri"/>
              </a:rPr>
              <a:t>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All bugs identified and fixed — dtype corruption, feature leakage, volatile noise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Thank You! 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BD5E1"/>
                </a:solidFill>
                <a:latin typeface="Calibri"/>
              </a:rPr>
              <a:t>Cricket Player Performance Prediction
IPL 2008–2025  •  Random Forest + XGBoost  •  SHAP  •  Streamlit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1232</Words>
  <Application>Microsoft Office PowerPoint</Application>
  <PresentationFormat>Widescreen</PresentationFormat>
  <Paragraphs>110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Rajiv Reddy</cp:lastModifiedBy>
  <cp:revision>2</cp:revision>
  <dcterms:created xsi:type="dcterms:W3CDTF">2013-01-27T09:14:16Z</dcterms:created>
  <dcterms:modified xsi:type="dcterms:W3CDTF">2026-02-21T14:07:21Z</dcterms:modified>
  <cp:category/>
</cp:coreProperties>
</file>