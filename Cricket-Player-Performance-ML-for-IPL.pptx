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4630400" cy="8229600"/>
  <p:notesSz cx="8229600" cy="14630400"/>
  <p:embeddedFontLst>
    <p:embeddedFont>
      <p:font typeface="Gelasio Semi Bold"/>
      <p:regular r:id="rId14"/>
    </p:embeddedFont>
    <p:embeddedFont>
      <p:font typeface="Gelasio Semi Bold"/>
      <p:regular r:id="rId15"/>
    </p:embeddedFont>
    <p:embeddedFont>
      <p:font typeface="Gelasio Semi Bold"/>
      <p:regular r:id="rId16"/>
    </p:embeddedFont>
    <p:embeddedFont>
      <p:font typeface="Gelasio Semi Bold"/>
      <p:regular r:id="rId17"/>
    </p:embeddedFont>
    <p:embeddedFont>
      <p:font typeface="Gelasio"/>
      <p:regular r:id="rId18"/>
    </p:embeddedFont>
    <p:embeddedFont>
      <p:font typeface="Gelasio"/>
      <p:regular r:id="rId19"/>
    </p:embeddedFont>
    <p:embeddedFont>
      <p:font typeface="Gelasio"/>
      <p:regular r:id="rId20"/>
    </p:embeddedFont>
    <p:embeddedFont>
      <p:font typeface="Gelasio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94560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Cricket Player Performance — ML for IPL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703326"/>
            <a:ext cx="755642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Predicting match-level runs (batsman) and wickets (bowler) using historical ball‑by‑ball data, feature engineering, XGBoost, SHAP and a Streamlit front end.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55" y="615077"/>
            <a:ext cx="6985873" cy="559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Data collection &amp; preprocessing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955" y="1753314"/>
            <a:ext cx="4217789" cy="562367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54147" y="2726650"/>
            <a:ext cx="2619851" cy="2083594"/>
          </a:xfrm>
          <a:prstGeom prst="roundRect">
            <a:avLst>
              <a:gd name="adj" fmla="val 1610"/>
            </a:avLst>
          </a:prstGeom>
          <a:solidFill>
            <a:srgbClr val="EEE8DD"/>
          </a:solidFill>
          <a:ln/>
        </p:spPr>
      </p:sp>
      <p:sp>
        <p:nvSpPr>
          <p:cNvPr id="5" name="Text 2"/>
          <p:cNvSpPr/>
          <p:nvPr/>
        </p:nvSpPr>
        <p:spPr>
          <a:xfrm>
            <a:off x="5777746" y="2950250"/>
            <a:ext cx="2172653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Sources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777746" y="3520440"/>
            <a:ext cx="2172653" cy="1066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Multi‑season IPL deliveries + match summaries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8394621" y="2726650"/>
            <a:ext cx="2619851" cy="2083594"/>
          </a:xfrm>
          <a:prstGeom prst="roundRect">
            <a:avLst>
              <a:gd name="adj" fmla="val 1610"/>
            </a:avLst>
          </a:prstGeom>
          <a:solidFill>
            <a:srgbClr val="EEE8DD"/>
          </a:solidFill>
          <a:ln/>
        </p:spPr>
      </p:sp>
      <p:sp>
        <p:nvSpPr>
          <p:cNvPr id="8" name="Text 5"/>
          <p:cNvSpPr/>
          <p:nvPr/>
        </p:nvSpPr>
        <p:spPr>
          <a:xfrm>
            <a:off x="8618220" y="2950250"/>
            <a:ext cx="2172653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Key fields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618220" y="3520440"/>
            <a:ext cx="2172653" cy="1066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Batsman, Bowler, Runs, Dismissals, Venue, Date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1235095" y="2726650"/>
            <a:ext cx="2619851" cy="2083594"/>
          </a:xfrm>
          <a:prstGeom prst="roundRect">
            <a:avLst>
              <a:gd name="adj" fmla="val 1610"/>
            </a:avLst>
          </a:prstGeom>
          <a:solidFill>
            <a:srgbClr val="EEE8DD"/>
          </a:solidFill>
          <a:ln/>
        </p:spPr>
      </p:sp>
      <p:sp>
        <p:nvSpPr>
          <p:cNvPr id="11" name="Text 8"/>
          <p:cNvSpPr/>
          <p:nvPr/>
        </p:nvSpPr>
        <p:spPr>
          <a:xfrm>
            <a:off x="11458694" y="2950250"/>
            <a:ext cx="2172653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Cleaning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458694" y="3520440"/>
            <a:ext cx="2172653" cy="1066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Standardise names, remove duplicates, impute missing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5554147" y="5030867"/>
            <a:ext cx="8300799" cy="1372791"/>
          </a:xfrm>
          <a:prstGeom prst="roundRect">
            <a:avLst>
              <a:gd name="adj" fmla="val 2444"/>
            </a:avLst>
          </a:prstGeom>
          <a:solidFill>
            <a:srgbClr val="EEE8DD"/>
          </a:solidFill>
          <a:ln/>
        </p:spPr>
      </p:sp>
      <p:sp>
        <p:nvSpPr>
          <p:cNvPr id="14" name="Text 11"/>
          <p:cNvSpPr/>
          <p:nvPr/>
        </p:nvSpPr>
        <p:spPr>
          <a:xfrm>
            <a:off x="5777746" y="5254466"/>
            <a:ext cx="2796302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Aggregation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777746" y="5824657"/>
            <a:ext cx="7853601" cy="355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Compute legal deliveries, match‑level stats per player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83606"/>
            <a:ext cx="945284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Feature engineering — domain + temporal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204210"/>
            <a:ext cx="883920" cy="1104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1197" y="3204210"/>
            <a:ext cx="18805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Long‑term skill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961197" y="4048958"/>
            <a:ext cx="188059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Career average, strike rate, boundary rate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78" y="3204210"/>
            <a:ext cx="883920" cy="1104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92685" y="3204210"/>
            <a:ext cx="18807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Context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92685" y="3694628"/>
            <a:ext cx="188071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Venue averages, surface bias, opponent match‑ups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884" y="3204210"/>
            <a:ext cx="883920" cy="11049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24292" y="3204210"/>
            <a:ext cx="18807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Recent form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624292" y="3694628"/>
            <a:ext cx="188071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10‑match rolling averages (runs / wickets)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8491" y="3204210"/>
            <a:ext cx="883920" cy="11049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955899" y="3204210"/>
            <a:ext cx="188071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Bowler signals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1955899" y="4048958"/>
            <a:ext cx="188071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Economy, wicket rate, venue/opponent splits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793790" y="5755719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Features capture long‑term ability + short‑term form + match conditions.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40218" y="863560"/>
            <a:ext cx="3231833" cy="403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Model development</a:t>
            </a:r>
            <a:endParaRPr lang="en-US" sz="2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0218" y="2265759"/>
            <a:ext cx="7109460" cy="39679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51394" y="1569482"/>
            <a:ext cx="161568" cy="201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01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9251394" y="1821180"/>
            <a:ext cx="3646170" cy="2286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6" name="Text 3"/>
          <p:cNvSpPr/>
          <p:nvPr/>
        </p:nvSpPr>
        <p:spPr>
          <a:xfrm>
            <a:off x="9251394" y="1947624"/>
            <a:ext cx="2019895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Model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9251394" y="2315170"/>
            <a:ext cx="3646170" cy="442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XGBoost regressor — handles nonlinearity, regularisation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251394" y="2993708"/>
            <a:ext cx="161568" cy="201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02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251394" y="3245406"/>
            <a:ext cx="3646170" cy="2286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0" name="Text 7"/>
          <p:cNvSpPr/>
          <p:nvPr/>
        </p:nvSpPr>
        <p:spPr>
          <a:xfrm>
            <a:off x="9251394" y="3371850"/>
            <a:ext cx="2019895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Training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9251394" y="3739396"/>
            <a:ext cx="3646170" cy="442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Chronological 80/20 split, early stopping on time‑aware val set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251394" y="4417933"/>
            <a:ext cx="161568" cy="201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251394" y="4669631"/>
            <a:ext cx="3646170" cy="2286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4" name="Text 11"/>
          <p:cNvSpPr/>
          <p:nvPr/>
        </p:nvSpPr>
        <p:spPr>
          <a:xfrm>
            <a:off x="9251394" y="4796076"/>
            <a:ext cx="2019895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Tuning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9251394" y="5163622"/>
            <a:ext cx="3646170" cy="442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Grid / random search for max_depth, eta, subsample, colsample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9251394" y="5842159"/>
            <a:ext cx="161568" cy="201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04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251394" y="6093857"/>
            <a:ext cx="3646170" cy="2286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8" name="Text 15"/>
          <p:cNvSpPr/>
          <p:nvPr/>
        </p:nvSpPr>
        <p:spPr>
          <a:xfrm>
            <a:off x="9251394" y="6220301"/>
            <a:ext cx="2019895" cy="252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Baseline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9251394" y="6587847"/>
            <a:ext cx="3646170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10‑match rolling average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740218" y="7188994"/>
            <a:ext cx="11149846" cy="177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Outcome: XGBoost outperformed the rolling‑average baseline.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83737" y="2957513"/>
            <a:ext cx="3413760" cy="426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6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Evaluation &amp; results</a:t>
            </a:r>
            <a:endParaRPr lang="en-US" sz="2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737" y="3754266"/>
            <a:ext cx="2514600" cy="13764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019342" y="3692247"/>
            <a:ext cx="5021223" cy="1091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Metrics: RMSE, MAE (match‑level)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XGBoost: lower RMSE vs baseline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Better accuracy for runs and wickets</a:t>
            </a:r>
            <a:endParaRPr lang="en-US" sz="1300" dirty="0"/>
          </a:p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Feature engineering: primary gain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01441" y="451009"/>
            <a:ext cx="3450312" cy="38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Explainability — SHAP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4932" y="1045012"/>
            <a:ext cx="6200418" cy="53076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8432" y="2636127"/>
            <a:ext cx="2391137" cy="29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SHAP Impact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7965065" y="2306018"/>
            <a:ext cx="2082946" cy="59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Value Colour Map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934219" y="4942246"/>
            <a:ext cx="1806637" cy="29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Top Features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2001441" y="6470333"/>
            <a:ext cx="10627519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SHAP reveals per‑prediction drivers. Recent form and venue frequently increase run predictions; economy and match context important for wickets.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001441" y="6753463"/>
            <a:ext cx="3472815" cy="1025128"/>
          </a:xfrm>
          <a:prstGeom prst="roundRect">
            <a:avLst>
              <a:gd name="adj" fmla="val 2254"/>
            </a:avLst>
          </a:prstGeom>
          <a:solidFill>
            <a:srgbClr val="EEE8DD"/>
          </a:solidFill>
          <a:ln/>
        </p:spPr>
      </p:sp>
      <p:sp>
        <p:nvSpPr>
          <p:cNvPr id="9" name="Text 6"/>
          <p:cNvSpPr/>
          <p:nvPr/>
        </p:nvSpPr>
        <p:spPr>
          <a:xfrm>
            <a:off x="2155388" y="6907411"/>
            <a:ext cx="1925241" cy="240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Colour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155388" y="7210782"/>
            <a:ext cx="3164919" cy="206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Red = high value; Blue = low value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578793" y="6753463"/>
            <a:ext cx="3472815" cy="1025128"/>
          </a:xfrm>
          <a:prstGeom prst="roundRect">
            <a:avLst>
              <a:gd name="adj" fmla="val 2254"/>
            </a:avLst>
          </a:prstGeom>
          <a:solidFill>
            <a:srgbClr val="EEE8DD"/>
          </a:solidFill>
          <a:ln/>
        </p:spPr>
      </p:sp>
      <p:sp>
        <p:nvSpPr>
          <p:cNvPr id="12" name="Text 9"/>
          <p:cNvSpPr/>
          <p:nvPr/>
        </p:nvSpPr>
        <p:spPr>
          <a:xfrm>
            <a:off x="5732740" y="6907411"/>
            <a:ext cx="1925241" cy="240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Direction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732740" y="7210782"/>
            <a:ext cx="3164919" cy="413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Right = raises prediction; Left = lowers prediction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156144" y="6753463"/>
            <a:ext cx="3472815" cy="1025128"/>
          </a:xfrm>
          <a:prstGeom prst="roundRect">
            <a:avLst>
              <a:gd name="adj" fmla="val 2254"/>
            </a:avLst>
          </a:prstGeom>
          <a:solidFill>
            <a:srgbClr val="EEE8DD"/>
          </a:solidFill>
          <a:ln/>
        </p:spPr>
      </p:sp>
      <p:sp>
        <p:nvSpPr>
          <p:cNvPr id="15" name="Text 12"/>
          <p:cNvSpPr/>
          <p:nvPr/>
        </p:nvSpPr>
        <p:spPr>
          <a:xfrm>
            <a:off x="9310092" y="6907411"/>
            <a:ext cx="1925241" cy="240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Actionable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310092" y="7210782"/>
            <a:ext cx="3164919" cy="413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 SHAP to validate features, detect bias, improve trust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31094"/>
            <a:ext cx="772406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Streamlit dashboard — production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065740"/>
            <a:ext cx="1131808" cy="14147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763929"/>
            <a:ext cx="25723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Controls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345073"/>
            <a:ext cx="257234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Player, opponent, venue, match date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623" y="3065740"/>
            <a:ext cx="1131808" cy="14147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49623" y="4763929"/>
            <a:ext cx="25723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Live predictions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3649623" y="5345073"/>
            <a:ext cx="257234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Runs / wickets with CI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456" y="3065740"/>
            <a:ext cx="1131808" cy="141470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05456" y="4763929"/>
            <a:ext cx="25723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Explainability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6505456" y="5345073"/>
            <a:ext cx="257234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SHAP feature breakdown per prediction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9638943" y="22650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Stack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9638943" y="2846189"/>
            <a:ext cx="4205168" cy="205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Streamlit front end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XGBoost model served via lightweight API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SHAP for interpretability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Pandas / NumPy for ETL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9638943" y="5153739"/>
            <a:ext cx="4205168" cy="1689616"/>
          </a:xfrm>
          <a:prstGeom prst="roundRect">
            <a:avLst>
              <a:gd name="adj" fmla="val 2014"/>
            </a:avLst>
          </a:prstGeom>
          <a:solidFill>
            <a:srgbClr val="E2D9CF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5757" y="5482590"/>
            <a:ext cx="283488" cy="22681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376059" y="5437227"/>
            <a:ext cx="324123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Deployable prototype for analysts and coaches — fast, explainable, and interactive.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2026-02-22T14:48:49Z</dcterms:created>
  <dcterms:modified xsi:type="dcterms:W3CDTF">2026-02-22T14:48:49Z</dcterms:modified>
</cp:coreProperties>
</file>