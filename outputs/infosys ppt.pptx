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63" r:id="rId3"/>
    <p:sldId id="271" r:id="rId4"/>
    <p:sldId id="265" r:id="rId5"/>
    <p:sldId id="299" r:id="rId6"/>
    <p:sldId id="297" r:id="rId7"/>
    <p:sldId id="276" r:id="rId8"/>
    <p:sldId id="304" r:id="rId9"/>
    <p:sldId id="278" r:id="rId10"/>
    <p:sldId id="281" r:id="rId11"/>
    <p:sldId id="283" r:id="rId12"/>
    <p:sldId id="282" r:id="rId13"/>
    <p:sldId id="301" r:id="rId14"/>
    <p:sldId id="298" r:id="rId15"/>
  </p:sldIdLst>
  <p:sldSz cx="12192000" cy="6858000"/>
  <p:notesSz cx="6858000" cy="9144000"/>
  <p:embeddedFontLst>
    <p:embeddedFont>
      <p:font typeface="Roboto" panose="0200000000000000000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lack" panose="0200000000000000000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34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9" Type="http://schemas.openxmlformats.org/officeDocument/2006/relationships/image" Target="../media/image4.svg"/><Relationship Id="rId18" Type="http://schemas.openxmlformats.org/officeDocument/2006/relationships/image" Target="../media/image3.png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20"/>
          <p:cNvSpPr/>
          <p:nvPr/>
        </p:nvSpPr>
        <p:spPr>
          <a:xfrm>
            <a:off x="8571080" y="0"/>
            <a:ext cx="3620919" cy="6858000"/>
          </a:xfrm>
          <a:prstGeom prst="roundRect">
            <a:avLst>
              <a:gd name="adj" fmla="val 0"/>
            </a:avLst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4475" y="623038"/>
            <a:ext cx="6211426" cy="2138045"/>
          </a:xfrm>
          <a:prstGeom prst="rect">
            <a:avLst/>
          </a:prstGeom>
          <a:noFill/>
          <a:effectLst/>
        </p:spPr>
        <p:txBody>
          <a:bodyPr wrap="square" lIns="107934" tIns="53968" rIns="107934" bIns="5396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🏏</a:t>
            </a:r>
            <a:r>
              <a:rPr kumimoji="0" lang="en-US" altLang="en-GB" sz="44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 IPL Player Performance Prediction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77862" y="4647087"/>
            <a:ext cx="376237" cy="0"/>
          </a:xfrm>
          <a:prstGeom prst="line">
            <a:avLst/>
          </a:prstGeom>
          <a:ln w="47625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0"/>
            </a:gradFill>
            <a:round/>
          </a:ln>
          <a:effectLst>
            <a:outerShdw blurRad="63500" dist="38100" dir="5400000" sx="90000" sy="90000" algn="ctr" rotWithShape="0">
              <a:schemeClr val="accent1">
                <a:alpha val="29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567690" y="3121025"/>
            <a:ext cx="48653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Presented by</a:t>
            </a:r>
            <a:r>
              <a:rPr lang="en-AU" altLang="en-US"/>
              <a:t> </a:t>
            </a:r>
            <a:r>
              <a:rPr lang="en-US" altLang="en-GB"/>
              <a:t>Akshaya Lega</a:t>
            </a:r>
            <a:endParaRPr lang="en-US" altLang="en-GB"/>
          </a:p>
          <a:p>
            <a:endParaRPr lang="en-GB" altLang="en-US"/>
          </a:p>
          <a:p>
            <a:r>
              <a:rPr lang="en-US" altLang="en-GB"/>
              <a:t>Technologies Used</a:t>
            </a:r>
            <a:r>
              <a:rPr lang="en-AU" altLang="en-US"/>
              <a:t>  :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Python | Pandas | Scikit-learn | LightGBM | SHAP | Streamlit</a:t>
            </a:r>
            <a:endParaRPr lang="en-US" altLang="en-GB"/>
          </a:p>
        </p:txBody>
      </p:sp>
      <p:pic>
        <p:nvPicPr>
          <p:cNvPr id="6" name="Picture 5" descr="ip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675" y="929640"/>
            <a:ext cx="5200650" cy="37172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0"/>
          <p:cNvSpPr/>
          <p:nvPr/>
        </p:nvSpPr>
        <p:spPr>
          <a:xfrm>
            <a:off x="0" y="4514892"/>
            <a:ext cx="12192000" cy="2343108"/>
          </a:xfrm>
          <a:prstGeom prst="roundRect">
            <a:avLst>
              <a:gd name="adj" fmla="val 0"/>
            </a:avLst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82008" dist="266700" dir="5400000" sx="90000" sy="90000" algn="ctr" rotWithShape="0">
              <a:schemeClr val="accent1">
                <a:alpha val="69000"/>
              </a:schemeClr>
            </a:outerShdw>
          </a:effectLst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2270" y="382861"/>
            <a:ext cx="330835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4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Problem Statement</a:t>
            </a:r>
            <a:endParaRPr kumimoji="0" lang="en-US" altLang="en-GB" sz="48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39525" y="383150"/>
            <a:ext cx="67435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I</a:t>
            </a: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alpha val="50000"/>
                  </a:srgb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n the Indian Premier League (IPL), player performance varies from match to match due to several factors such as recent form and past performance history.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alpha val="50000"/>
                  </a:srgb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There is a need for an intelligent system that can: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alpha val="50000"/>
                  </a:srgb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Predict a player's expected number of runs in an upcoming match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alpha val="50000"/>
                  </a:srgb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Use historical match and ball-by-ball data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alpha val="50000"/>
                  </a:srgb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Consider recent performance trends of the player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alpha val="50000"/>
                  </a:srgb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Provide an explanation for the prediction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2060">
                  <a:alpha val="50000"/>
                </a:srgb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pic>
        <p:nvPicPr>
          <p:cNvPr id="2" name="Picture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66895"/>
            <a:ext cx="12192000" cy="6648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181133" y="1780641"/>
            <a:ext cx="16113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01</a:t>
            </a:r>
            <a:endParaRPr kumimoji="0" lang="en-US" altLang="zh-CN" sz="9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1181133" y="3303886"/>
            <a:ext cx="4528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Business overview 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81100" y="902335"/>
            <a:ext cx="5363210" cy="60623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400"/>
              <a:t>Objective of the Project</a:t>
            </a:r>
            <a:endParaRPr lang="en-US" altLang="en-GB" sz="4400"/>
          </a:p>
          <a:p>
            <a:endParaRPr lang="en-US" altLang="en-GB" sz="4400"/>
          </a:p>
          <a:p>
            <a:r>
              <a:rPr lang="en-US" altLang="en-GB" sz="1600"/>
              <a:t>To design and implement a machine learning based system that:</a:t>
            </a:r>
            <a:endParaRPr lang="en-US" altLang="en-GB" sz="1600"/>
          </a:p>
          <a:p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/>
              <a:t>Predicts the runs scored by an IPL batsman in a match</a:t>
            </a: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/>
              <a:t>Uses engineered features from historical IPL data</a:t>
            </a: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/>
              <a:t>Applies multiple machine learning models and selects the best model</a:t>
            </a: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/>
              <a:t>Explains the prediction using SHAP</a:t>
            </a: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/>
              <a:t>Provides an interactive dashboard for users using Streamlit</a:t>
            </a:r>
            <a:endParaRPr lang="en-US" alt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/>
          </a:p>
        </p:txBody>
      </p:sp>
      <p:sp>
        <p:nvSpPr>
          <p:cNvPr id="8" name="Rectangle: Rounded Corners 20"/>
          <p:cNvSpPr/>
          <p:nvPr/>
        </p:nvSpPr>
        <p:spPr>
          <a:xfrm>
            <a:off x="8571080" y="0"/>
            <a:ext cx="3620919" cy="6858000"/>
          </a:xfrm>
          <a:prstGeom prst="roundRect">
            <a:avLst>
              <a:gd name="adj" fmla="val 0"/>
            </a:avLst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20"/>
          <p:cNvSpPr/>
          <p:nvPr>
            <p:custDataLst>
              <p:tags r:id="rId1"/>
            </p:custDataLst>
          </p:nvPr>
        </p:nvSpPr>
        <p:spPr>
          <a:xfrm flipV="1">
            <a:off x="6558280" y="1824355"/>
            <a:ext cx="5057775" cy="2880995"/>
          </a:xfrm>
          <a:prstGeom prst="roundRect">
            <a:avLst>
              <a:gd name="adj" fmla="val 4303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0" dist="508000" dir="5400000" sx="90000" sy="90000" algn="t" rotWithShape="0">
              <a:schemeClr val="accent3">
                <a:alpha val="15000"/>
              </a:schemeClr>
            </a:outerShdw>
          </a:effectLst>
        </p:spPr>
        <p:txBody>
          <a:bodyPr lIns="85039" tIns="42520" rIns="85039" bIns="425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6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22" name="Rectangle: Rounded Corners 20"/>
          <p:cNvSpPr/>
          <p:nvPr>
            <p:custDataLst>
              <p:tags r:id="rId2"/>
            </p:custDataLst>
          </p:nvPr>
        </p:nvSpPr>
        <p:spPr>
          <a:xfrm flipV="1">
            <a:off x="548640" y="1824355"/>
            <a:ext cx="5049520" cy="2880360"/>
          </a:xfrm>
          <a:prstGeom prst="roundRect">
            <a:avLst>
              <a:gd name="adj" fmla="val 4303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0" dist="508000" dir="5400000" sx="90000" sy="90000" algn="t" rotWithShape="0">
              <a:schemeClr val="accent3">
                <a:alpha val="15000"/>
              </a:schemeClr>
            </a:outerShdw>
          </a:effectLst>
        </p:spPr>
        <p:txBody>
          <a:bodyPr lIns="85039" tIns="42520" rIns="85039" bIns="425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6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98354" y="1623637"/>
            <a:ext cx="2073093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GB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017BFF"/>
                  </a:gs>
                  <a:gs pos="100000">
                    <a:srgbClr val="017BFF">
                      <a:lumMod val="60000"/>
                      <a:lumOff val="40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20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017BFF"/>
                    </a:gs>
                    <a:gs pos="100000">
                      <a:srgbClr val="017BFF">
                        <a:lumMod val="60000"/>
                        <a:lumOff val="4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deliveries.csv</a:t>
            </a:r>
            <a:endParaRPr kumimoji="0" lang="en-US" altLang="en-GB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017BFF"/>
                  </a:gs>
                  <a:gs pos="100000">
                    <a:srgbClr val="017BFF">
                      <a:lumMod val="60000"/>
                      <a:lumOff val="40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01040" y="2392045"/>
            <a:ext cx="4554220" cy="3600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This file contains ball-by-ball information for every IPL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 match.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Main columns: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match_id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batter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bowler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batting_team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bowling_team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runs_off_bat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6635859" y="1780108"/>
            <a:ext cx="207309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20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017BFF"/>
                    </a:gs>
                    <a:gs pos="100000">
                      <a:srgbClr val="017BFF">
                        <a:lumMod val="60000"/>
                        <a:lumOff val="4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matches.csv</a:t>
            </a:r>
            <a:endParaRPr kumimoji="0" lang="en-US" altLang="en-GB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017BFF"/>
                  </a:gs>
                  <a:gs pos="100000">
                    <a:srgbClr val="017BFF">
                      <a:lumMod val="60000"/>
                      <a:lumOff val="40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6766560" y="2261235"/>
            <a:ext cx="48494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This file contains match-level information.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Main columns: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id (match id)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season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venue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team1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team2</a:t>
            </a:r>
            <a:endParaRPr kumimoji="0" lang="en-US" alt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alpha val="50000"/>
                </a:scheme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>
            <p:custDataLst>
              <p:tags r:id="rId7"/>
            </p:custDataLst>
          </p:nvPr>
        </p:nvSpPr>
        <p:spPr>
          <a:xfrm>
            <a:off x="4600740" y="2024925"/>
            <a:ext cx="1598150" cy="1598150"/>
          </a:xfrm>
          <a:prstGeom prst="ellipse">
            <a:avLst/>
          </a:prstGeom>
          <a:noFill/>
          <a:ln w="6350" cap="flat" cmpd="sng" algn="ctr">
            <a:solidFill>
              <a:schemeClr val="bg1"/>
            </a:solidFill>
            <a:prstDash val="sysDash"/>
            <a:miter lim="800000"/>
          </a:ln>
          <a:effectLst>
            <a:outerShdw blurRad="444500" dist="198412" dir="5400000" sx="90000" sy="90000" algn="ctr" rotWithShape="0">
              <a:schemeClr val="accent1">
                <a:alpha val="25000"/>
              </a:schemeClr>
            </a:outerShdw>
          </a:effectLst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>
            <p:custDataLst>
              <p:tags r:id="rId8"/>
            </p:custDataLst>
          </p:nvPr>
        </p:nvGrpSpPr>
        <p:grpSpPr>
          <a:xfrm>
            <a:off x="7566122" y="2488957"/>
            <a:ext cx="684168" cy="648521"/>
            <a:chOff x="9795672" y="3022565"/>
            <a:chExt cx="662449" cy="627933"/>
          </a:xfrm>
        </p:grpSpPr>
        <p:sp>
          <p:nvSpPr>
            <p:cNvPr id="32" name="任意多边形: 形状 31"/>
            <p:cNvSpPr/>
            <p:nvPr>
              <p:custDataLst>
                <p:tags r:id="rId9"/>
              </p:custDataLst>
            </p:nvPr>
          </p:nvSpPr>
          <p:spPr>
            <a:xfrm>
              <a:off x="9795672" y="3022565"/>
              <a:ext cx="662449" cy="483361"/>
            </a:xfrm>
            <a:custGeom>
              <a:avLst/>
              <a:gdLst>
                <a:gd name="connsiteX0" fmla="*/ 17433 w 662449"/>
                <a:gd name="connsiteY0" fmla="*/ 0 h 483361"/>
                <a:gd name="connsiteX1" fmla="*/ 0 w 662449"/>
                <a:gd name="connsiteY1" fmla="*/ 17433 h 483361"/>
                <a:gd name="connsiteX2" fmla="*/ 17433 w 662449"/>
                <a:gd name="connsiteY2" fmla="*/ 34866 h 483361"/>
                <a:gd name="connsiteX3" fmla="*/ 17433 w 662449"/>
                <a:gd name="connsiteY3" fmla="*/ 0 h 483361"/>
                <a:gd name="connsiteX4" fmla="*/ 87165 w 662449"/>
                <a:gd name="connsiteY4" fmla="*/ 17433 h 483361"/>
                <a:gd name="connsiteX5" fmla="*/ 104546 w 662449"/>
                <a:gd name="connsiteY5" fmla="*/ 16096 h 483361"/>
                <a:gd name="connsiteX6" fmla="*/ 87165 w 662449"/>
                <a:gd name="connsiteY6" fmla="*/ 0 h 483361"/>
                <a:gd name="connsiteX7" fmla="*/ 87165 w 662449"/>
                <a:gd name="connsiteY7" fmla="*/ 17433 h 483361"/>
                <a:gd name="connsiteX8" fmla="*/ 645018 w 662449"/>
                <a:gd name="connsiteY8" fmla="*/ 122030 h 483361"/>
                <a:gd name="connsiteX9" fmla="*/ 662343 w 662449"/>
                <a:gd name="connsiteY9" fmla="*/ 123956 h 483361"/>
                <a:gd name="connsiteX10" fmla="*/ 658009 w 662449"/>
                <a:gd name="connsiteY10" fmla="*/ 110404 h 483361"/>
                <a:gd name="connsiteX11" fmla="*/ 645018 w 662449"/>
                <a:gd name="connsiteY11" fmla="*/ 104598 h 483361"/>
                <a:gd name="connsiteX12" fmla="*/ 645018 w 662449"/>
                <a:gd name="connsiteY12" fmla="*/ 122030 h 483361"/>
                <a:gd name="connsiteX13" fmla="*/ 95211 w 662449"/>
                <a:gd name="connsiteY13" fmla="*/ 122030 h 483361"/>
                <a:gd name="connsiteX14" fmla="*/ 77829 w 662449"/>
                <a:gd name="connsiteY14" fmla="*/ 123368 h 483361"/>
                <a:gd name="connsiteX15" fmla="*/ 95211 w 662449"/>
                <a:gd name="connsiteY15" fmla="*/ 122030 h 483361"/>
                <a:gd name="connsiteX16" fmla="*/ 552229 w 662449"/>
                <a:gd name="connsiteY16" fmla="*/ 439962 h 483361"/>
                <a:gd name="connsiteX17" fmla="*/ 553471 w 662449"/>
                <a:gd name="connsiteY17" fmla="*/ 457349 h 483361"/>
                <a:gd name="connsiteX18" fmla="*/ 552229 w 662449"/>
                <a:gd name="connsiteY18" fmla="*/ 439962 h 483361"/>
                <a:gd name="connsiteX19" fmla="*/ 191206 w 662449"/>
                <a:gd name="connsiteY19" fmla="*/ 465748 h 483361"/>
                <a:gd name="connsiteX20" fmla="*/ 189964 w 662449"/>
                <a:gd name="connsiteY20" fmla="*/ 448361 h 483361"/>
                <a:gd name="connsiteX21" fmla="*/ 191206 w 662449"/>
                <a:gd name="connsiteY21" fmla="*/ 465748 h 483361"/>
                <a:gd name="connsiteX22" fmla="*/ 17433 w 662449"/>
                <a:gd name="connsiteY22" fmla="*/ 34866 h 483361"/>
                <a:gd name="connsiteX23" fmla="*/ 87165 w 662449"/>
                <a:gd name="connsiteY23" fmla="*/ 34866 h 483361"/>
                <a:gd name="connsiteX24" fmla="*/ 87165 w 662449"/>
                <a:gd name="connsiteY24" fmla="*/ 0 h 483361"/>
                <a:gd name="connsiteX25" fmla="*/ 17433 w 662449"/>
                <a:gd name="connsiteY25" fmla="*/ 0 h 483361"/>
                <a:gd name="connsiteX26" fmla="*/ 17433 w 662449"/>
                <a:gd name="connsiteY26" fmla="*/ 34866 h 483361"/>
                <a:gd name="connsiteX27" fmla="*/ 192448 w 662449"/>
                <a:gd name="connsiteY27" fmla="*/ 483136 h 483361"/>
                <a:gd name="connsiteX28" fmla="*/ 553471 w 662449"/>
                <a:gd name="connsiteY28" fmla="*/ 457349 h 483361"/>
                <a:gd name="connsiteX29" fmla="*/ 550985 w 662449"/>
                <a:gd name="connsiteY29" fmla="*/ 422570 h 483361"/>
                <a:gd name="connsiteX30" fmla="*/ 189964 w 662449"/>
                <a:gd name="connsiteY30" fmla="*/ 448361 h 483361"/>
                <a:gd name="connsiteX31" fmla="*/ 192448 w 662449"/>
                <a:gd name="connsiteY31" fmla="*/ 483136 h 483361"/>
                <a:gd name="connsiteX32" fmla="*/ 633892 w 662449"/>
                <a:gd name="connsiteY32" fmla="*/ 380031 h 483361"/>
                <a:gd name="connsiteX33" fmla="*/ 662343 w 662449"/>
                <a:gd name="connsiteY33" fmla="*/ 123956 h 483361"/>
                <a:gd name="connsiteX34" fmla="*/ 627693 w 662449"/>
                <a:gd name="connsiteY34" fmla="*/ 120105 h 483361"/>
                <a:gd name="connsiteX35" fmla="*/ 599239 w 662449"/>
                <a:gd name="connsiteY35" fmla="*/ 376181 h 483361"/>
                <a:gd name="connsiteX36" fmla="*/ 633892 w 662449"/>
                <a:gd name="connsiteY36" fmla="*/ 380031 h 483361"/>
                <a:gd name="connsiteX37" fmla="*/ 69783 w 662449"/>
                <a:gd name="connsiteY37" fmla="*/ 18770 h 483361"/>
                <a:gd name="connsiteX38" fmla="*/ 77829 w 662449"/>
                <a:gd name="connsiteY38" fmla="*/ 123368 h 483361"/>
                <a:gd name="connsiteX39" fmla="*/ 112592 w 662449"/>
                <a:gd name="connsiteY39" fmla="*/ 120693 h 483361"/>
                <a:gd name="connsiteX40" fmla="*/ 104546 w 662449"/>
                <a:gd name="connsiteY40" fmla="*/ 16096 h 483361"/>
                <a:gd name="connsiteX41" fmla="*/ 69783 w 662449"/>
                <a:gd name="connsiteY41" fmla="*/ 18770 h 483361"/>
                <a:gd name="connsiteX42" fmla="*/ 77829 w 662449"/>
                <a:gd name="connsiteY42" fmla="*/ 123368 h 483361"/>
                <a:gd name="connsiteX43" fmla="*/ 99330 w 662449"/>
                <a:gd name="connsiteY43" fmla="*/ 402878 h 483361"/>
                <a:gd name="connsiteX44" fmla="*/ 134093 w 662449"/>
                <a:gd name="connsiteY44" fmla="*/ 400204 h 483361"/>
                <a:gd name="connsiteX45" fmla="*/ 112592 w 662449"/>
                <a:gd name="connsiteY45" fmla="*/ 120693 h 483361"/>
                <a:gd name="connsiteX46" fmla="*/ 77829 w 662449"/>
                <a:gd name="connsiteY46" fmla="*/ 123368 h 483361"/>
                <a:gd name="connsiteX47" fmla="*/ 645018 w 662449"/>
                <a:gd name="connsiteY47" fmla="*/ 104598 h 483361"/>
                <a:gd name="connsiteX48" fmla="*/ 95211 w 662449"/>
                <a:gd name="connsiteY48" fmla="*/ 104598 h 483361"/>
                <a:gd name="connsiteX49" fmla="*/ 95211 w 662449"/>
                <a:gd name="connsiteY49" fmla="*/ 139463 h 483361"/>
                <a:gd name="connsiteX50" fmla="*/ 645018 w 662449"/>
                <a:gd name="connsiteY50" fmla="*/ 139463 h 483361"/>
                <a:gd name="connsiteX51" fmla="*/ 645018 w 662449"/>
                <a:gd name="connsiteY51" fmla="*/ 104598 h 483361"/>
                <a:gd name="connsiteX52" fmla="*/ 553471 w 662449"/>
                <a:gd name="connsiteY52" fmla="*/ 457349 h 483361"/>
                <a:gd name="connsiteX53" fmla="*/ 633892 w 662449"/>
                <a:gd name="connsiteY53" fmla="*/ 380031 h 483361"/>
                <a:gd name="connsiteX54" fmla="*/ 599239 w 662449"/>
                <a:gd name="connsiteY54" fmla="*/ 376181 h 483361"/>
                <a:gd name="connsiteX55" fmla="*/ 550985 w 662449"/>
                <a:gd name="connsiteY55" fmla="*/ 422570 h 483361"/>
                <a:gd name="connsiteX56" fmla="*/ 553471 w 662449"/>
                <a:gd name="connsiteY56" fmla="*/ 457349 h 483361"/>
                <a:gd name="connsiteX57" fmla="*/ 189964 w 662449"/>
                <a:gd name="connsiteY57" fmla="*/ 448361 h 483361"/>
                <a:gd name="connsiteX58" fmla="*/ 134093 w 662449"/>
                <a:gd name="connsiteY58" fmla="*/ 400204 h 483361"/>
                <a:gd name="connsiteX59" fmla="*/ 99330 w 662449"/>
                <a:gd name="connsiteY59" fmla="*/ 402878 h 483361"/>
                <a:gd name="connsiteX60" fmla="*/ 192448 w 662449"/>
                <a:gd name="connsiteY60" fmla="*/ 483136 h 483361"/>
                <a:gd name="connsiteX61" fmla="*/ 189964 w 662449"/>
                <a:gd name="connsiteY61" fmla="*/ 448361 h 48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62449" h="483361">
                  <a:moveTo>
                    <a:pt x="17433" y="0"/>
                  </a:moveTo>
                  <a:cubicBezTo>
                    <a:pt x="7805" y="0"/>
                    <a:pt x="0" y="7805"/>
                    <a:pt x="0" y="17433"/>
                  </a:cubicBezTo>
                  <a:cubicBezTo>
                    <a:pt x="0" y="27061"/>
                    <a:pt x="7805" y="34866"/>
                    <a:pt x="17433" y="34866"/>
                  </a:cubicBezTo>
                  <a:lnTo>
                    <a:pt x="17433" y="0"/>
                  </a:lnTo>
                  <a:close/>
                  <a:moveTo>
                    <a:pt x="87165" y="17433"/>
                  </a:moveTo>
                  <a:lnTo>
                    <a:pt x="104546" y="16096"/>
                  </a:lnTo>
                  <a:cubicBezTo>
                    <a:pt x="103848" y="7013"/>
                    <a:pt x="96274" y="0"/>
                    <a:pt x="87165" y="0"/>
                  </a:cubicBezTo>
                  <a:lnTo>
                    <a:pt x="87165" y="17433"/>
                  </a:lnTo>
                  <a:close/>
                  <a:moveTo>
                    <a:pt x="645018" y="122030"/>
                  </a:moveTo>
                  <a:lnTo>
                    <a:pt x="662343" y="123956"/>
                  </a:lnTo>
                  <a:cubicBezTo>
                    <a:pt x="662890" y="119027"/>
                    <a:pt x="661314" y="114099"/>
                    <a:pt x="658009" y="110404"/>
                  </a:cubicBezTo>
                  <a:cubicBezTo>
                    <a:pt x="654700" y="106709"/>
                    <a:pt x="649976" y="104598"/>
                    <a:pt x="645018" y="104598"/>
                  </a:cubicBezTo>
                  <a:lnTo>
                    <a:pt x="645018" y="122030"/>
                  </a:lnTo>
                  <a:close/>
                  <a:moveTo>
                    <a:pt x="95211" y="122030"/>
                  </a:moveTo>
                  <a:lnTo>
                    <a:pt x="77829" y="123368"/>
                  </a:lnTo>
                  <a:lnTo>
                    <a:pt x="95211" y="122030"/>
                  </a:lnTo>
                  <a:close/>
                  <a:moveTo>
                    <a:pt x="552229" y="439962"/>
                  </a:moveTo>
                  <a:lnTo>
                    <a:pt x="553471" y="457349"/>
                  </a:lnTo>
                  <a:lnTo>
                    <a:pt x="552229" y="439962"/>
                  </a:lnTo>
                  <a:close/>
                  <a:moveTo>
                    <a:pt x="191206" y="465748"/>
                  </a:moveTo>
                  <a:lnTo>
                    <a:pt x="189964" y="448361"/>
                  </a:lnTo>
                  <a:lnTo>
                    <a:pt x="191206" y="465748"/>
                  </a:lnTo>
                  <a:close/>
                  <a:moveTo>
                    <a:pt x="17433" y="34866"/>
                  </a:moveTo>
                  <a:lnTo>
                    <a:pt x="87165" y="34866"/>
                  </a:lnTo>
                  <a:lnTo>
                    <a:pt x="87165" y="0"/>
                  </a:lnTo>
                  <a:lnTo>
                    <a:pt x="17433" y="0"/>
                  </a:lnTo>
                  <a:lnTo>
                    <a:pt x="17433" y="34866"/>
                  </a:lnTo>
                  <a:close/>
                  <a:moveTo>
                    <a:pt x="192448" y="483136"/>
                  </a:moveTo>
                  <a:lnTo>
                    <a:pt x="553471" y="457349"/>
                  </a:lnTo>
                  <a:lnTo>
                    <a:pt x="550985" y="422570"/>
                  </a:lnTo>
                  <a:lnTo>
                    <a:pt x="189964" y="448361"/>
                  </a:lnTo>
                  <a:lnTo>
                    <a:pt x="192448" y="483136"/>
                  </a:lnTo>
                  <a:close/>
                  <a:moveTo>
                    <a:pt x="633892" y="380031"/>
                  </a:moveTo>
                  <a:lnTo>
                    <a:pt x="662343" y="123956"/>
                  </a:lnTo>
                  <a:lnTo>
                    <a:pt x="627693" y="120105"/>
                  </a:lnTo>
                  <a:lnTo>
                    <a:pt x="599239" y="376181"/>
                  </a:lnTo>
                  <a:lnTo>
                    <a:pt x="633892" y="380031"/>
                  </a:lnTo>
                  <a:close/>
                  <a:moveTo>
                    <a:pt x="69783" y="18770"/>
                  </a:moveTo>
                  <a:lnTo>
                    <a:pt x="77829" y="123368"/>
                  </a:lnTo>
                  <a:lnTo>
                    <a:pt x="112592" y="120693"/>
                  </a:lnTo>
                  <a:lnTo>
                    <a:pt x="104546" y="16096"/>
                  </a:lnTo>
                  <a:lnTo>
                    <a:pt x="69783" y="18770"/>
                  </a:lnTo>
                  <a:close/>
                  <a:moveTo>
                    <a:pt x="77829" y="123368"/>
                  </a:moveTo>
                  <a:lnTo>
                    <a:pt x="99330" y="402878"/>
                  </a:lnTo>
                  <a:lnTo>
                    <a:pt x="134093" y="400204"/>
                  </a:lnTo>
                  <a:lnTo>
                    <a:pt x="112592" y="120693"/>
                  </a:lnTo>
                  <a:lnTo>
                    <a:pt x="77829" y="123368"/>
                  </a:lnTo>
                  <a:close/>
                  <a:moveTo>
                    <a:pt x="645018" y="104598"/>
                  </a:moveTo>
                  <a:lnTo>
                    <a:pt x="95211" y="104598"/>
                  </a:lnTo>
                  <a:lnTo>
                    <a:pt x="95211" y="139463"/>
                  </a:lnTo>
                  <a:lnTo>
                    <a:pt x="645018" y="139463"/>
                  </a:lnTo>
                  <a:lnTo>
                    <a:pt x="645018" y="104598"/>
                  </a:lnTo>
                  <a:close/>
                  <a:moveTo>
                    <a:pt x="553471" y="457349"/>
                  </a:moveTo>
                  <a:cubicBezTo>
                    <a:pt x="595418" y="454354"/>
                    <a:pt x="629248" y="421831"/>
                    <a:pt x="633892" y="380031"/>
                  </a:cubicBezTo>
                  <a:lnTo>
                    <a:pt x="599239" y="376181"/>
                  </a:lnTo>
                  <a:cubicBezTo>
                    <a:pt x="596453" y="401260"/>
                    <a:pt x="576154" y="420775"/>
                    <a:pt x="550985" y="422570"/>
                  </a:cubicBezTo>
                  <a:lnTo>
                    <a:pt x="553471" y="457349"/>
                  </a:lnTo>
                  <a:close/>
                  <a:moveTo>
                    <a:pt x="189964" y="448361"/>
                  </a:moveTo>
                  <a:cubicBezTo>
                    <a:pt x="161265" y="450407"/>
                    <a:pt x="136300" y="428892"/>
                    <a:pt x="134093" y="400204"/>
                  </a:cubicBezTo>
                  <a:lnTo>
                    <a:pt x="99330" y="402878"/>
                  </a:lnTo>
                  <a:cubicBezTo>
                    <a:pt x="103008" y="450690"/>
                    <a:pt x="144616" y="486553"/>
                    <a:pt x="192448" y="483136"/>
                  </a:cubicBezTo>
                  <a:lnTo>
                    <a:pt x="189964" y="448361"/>
                  </a:lnTo>
                  <a:close/>
                </a:path>
              </a:pathLst>
            </a:custGeom>
            <a:solidFill>
              <a:schemeClr val="bg1"/>
            </a:solidFill>
            <a:ln w="345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10"/>
              </p:custDataLst>
            </p:nvPr>
          </p:nvSpPr>
          <p:spPr>
            <a:xfrm>
              <a:off x="10161763" y="3266626"/>
              <a:ext cx="34865" cy="104597"/>
            </a:xfrm>
            <a:custGeom>
              <a:avLst/>
              <a:gdLst>
                <a:gd name="connsiteX0" fmla="*/ 0 w 34865"/>
                <a:gd name="connsiteY0" fmla="*/ 0 h 104597"/>
                <a:gd name="connsiteX1" fmla="*/ 0 w 34865"/>
                <a:gd name="connsiteY1" fmla="*/ 104598 h 104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865" h="104597">
                  <a:moveTo>
                    <a:pt x="0" y="0"/>
                  </a:moveTo>
                  <a:lnTo>
                    <a:pt x="0" y="104598"/>
                  </a:lnTo>
                </a:path>
              </a:pathLst>
            </a:custGeom>
            <a:solidFill>
              <a:schemeClr val="bg1"/>
            </a:solidFill>
            <a:ln w="34528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11"/>
              </p:custDataLst>
            </p:nvPr>
          </p:nvSpPr>
          <p:spPr>
            <a:xfrm>
              <a:off x="10109465" y="3318925"/>
              <a:ext cx="104597" cy="34865"/>
            </a:xfrm>
            <a:custGeom>
              <a:avLst/>
              <a:gdLst>
                <a:gd name="connsiteX0" fmla="*/ 0 w 104597"/>
                <a:gd name="connsiteY0" fmla="*/ 0 h 34865"/>
                <a:gd name="connsiteX1" fmla="*/ 104598 w 104597"/>
                <a:gd name="connsiteY1" fmla="*/ 0 h 3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4597" h="34865">
                  <a:moveTo>
                    <a:pt x="0" y="0"/>
                  </a:moveTo>
                  <a:lnTo>
                    <a:pt x="104598" y="0"/>
                  </a:lnTo>
                </a:path>
              </a:pathLst>
            </a:custGeom>
            <a:solidFill>
              <a:schemeClr val="bg1"/>
            </a:solidFill>
            <a:ln w="34528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12"/>
              </p:custDataLst>
            </p:nvPr>
          </p:nvSpPr>
          <p:spPr>
            <a:xfrm>
              <a:off x="10318660" y="3650150"/>
              <a:ext cx="348" cy="348"/>
            </a:xfrm>
            <a:custGeom>
              <a:avLst/>
              <a:gdLst>
                <a:gd name="connsiteX0" fmla="*/ 0 w 348"/>
                <a:gd name="connsiteY0" fmla="*/ 0 h 348"/>
                <a:gd name="connsiteX1" fmla="*/ 349 w 348"/>
                <a:gd name="connsiteY1" fmla="*/ 0 h 348"/>
                <a:gd name="connsiteX2" fmla="*/ 349 w 348"/>
                <a:gd name="connsiteY2" fmla="*/ 349 h 348"/>
                <a:gd name="connsiteX3" fmla="*/ 0 w 348"/>
                <a:gd name="connsiteY3" fmla="*/ 349 h 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" h="348">
                  <a:moveTo>
                    <a:pt x="0" y="0"/>
                  </a:moveTo>
                  <a:lnTo>
                    <a:pt x="349" y="0"/>
                  </a:lnTo>
                  <a:lnTo>
                    <a:pt x="349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bg1"/>
            </a:solidFill>
            <a:ln w="34528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13"/>
              </p:custDataLst>
            </p:nvPr>
          </p:nvSpPr>
          <p:spPr>
            <a:xfrm>
              <a:off x="10004867" y="3650150"/>
              <a:ext cx="348" cy="348"/>
            </a:xfrm>
            <a:custGeom>
              <a:avLst/>
              <a:gdLst>
                <a:gd name="connsiteX0" fmla="*/ 0 w 348"/>
                <a:gd name="connsiteY0" fmla="*/ 0 h 348"/>
                <a:gd name="connsiteX1" fmla="*/ 349 w 348"/>
                <a:gd name="connsiteY1" fmla="*/ 0 h 348"/>
                <a:gd name="connsiteX2" fmla="*/ 349 w 348"/>
                <a:gd name="connsiteY2" fmla="*/ 349 h 348"/>
                <a:gd name="connsiteX3" fmla="*/ 0 w 348"/>
                <a:gd name="connsiteY3" fmla="*/ 349 h 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" h="348">
                  <a:moveTo>
                    <a:pt x="0" y="0"/>
                  </a:moveTo>
                  <a:lnTo>
                    <a:pt x="349" y="0"/>
                  </a:lnTo>
                  <a:lnTo>
                    <a:pt x="349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bg1"/>
            </a:solidFill>
            <a:ln w="34528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4"/>
              </p:custDataLst>
            </p:nvPr>
          </p:nvSpPr>
          <p:spPr>
            <a:xfrm>
              <a:off x="9887771" y="3125183"/>
              <a:ext cx="21600" cy="45719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5237" tIns="47618" rIns="95237" bIns="476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7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5"/>
              </p:custDataLst>
            </p:nvPr>
          </p:nvSpPr>
          <p:spPr>
            <a:xfrm>
              <a:off x="10422377" y="3126771"/>
              <a:ext cx="18000" cy="360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5237" tIns="47618" rIns="95237" bIns="476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7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6"/>
              </p:custDataLst>
            </p:nvPr>
          </p:nvSpPr>
          <p:spPr>
            <a:xfrm>
              <a:off x="9865990" y="3037004"/>
              <a:ext cx="24231" cy="2423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0476" tIns="25238" rIns="50476" bIns="2523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9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cs typeface="+mn-ea"/>
                <a:sym typeface="+mn-lt"/>
              </a:endParaRPr>
            </a:p>
          </p:txBody>
        </p:sp>
      </p:grpSp>
      <p:pic>
        <p:nvPicPr>
          <p:cNvPr id="43" name="图形 42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75119" y="2391893"/>
            <a:ext cx="864215" cy="86421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201930" y="12700"/>
            <a:ext cx="11520805" cy="1204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4400" b="0" i="0" u="none" strike="noStrike" kern="1200" cap="none" spc="0" normalizeH="0" baseline="0" noProof="0">
                <a:ln>
                  <a:noFill/>
                </a:ln>
                <a:solidFill>
                  <a:srgbClr val="18202B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Data Collection &amp; Exploratory Data Analysis</a:t>
            </a:r>
            <a:endParaRPr kumimoji="0" lang="en-US" altLang="en-GB" sz="4400" b="0" i="0" u="none" strike="noStrike" kern="1200" cap="none" spc="0" normalizeH="0" baseline="0" noProof="0">
              <a:ln>
                <a:noFill/>
              </a:ln>
              <a:solidFill>
                <a:srgbClr val="18202B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8640" y="775335"/>
            <a:ext cx="10330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The IPL datasets used in this project were</a:t>
            </a:r>
            <a:r>
              <a:rPr lang="en-AU" altLang="en-US"/>
              <a:t> </a:t>
            </a:r>
            <a:r>
              <a:rPr lang="en-US" altLang="en-GB">
                <a:sym typeface="+mn-ea"/>
              </a:rPr>
              <a:t>.</a:t>
            </a:r>
            <a:r>
              <a:rPr lang="en-US" altLang="en-GB"/>
              <a:t>downloaded from Kaggle.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The dataset contains historical Indian Premier League (IPL) match and ball-by-ball data.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659130" y="4961890"/>
            <a:ext cx="113315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Loaded both datasets using Pandas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Checked the dataset size (rows and columns)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Inspected column names and data types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Analysed missing values in both datasets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Studied overall data structure using basic statistics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0"/>
          <p:cNvSpPr/>
          <p:nvPr/>
        </p:nvSpPr>
        <p:spPr>
          <a:xfrm flipV="1">
            <a:off x="86995" y="66"/>
            <a:ext cx="10852150" cy="2327842"/>
          </a:xfrm>
          <a:prstGeom prst="roundRect">
            <a:avLst>
              <a:gd name="adj" fmla="val 59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0" dist="508000" dir="5400000" sx="90000" sy="90000" algn="t" rotWithShape="0">
              <a:schemeClr val="accent3">
                <a:alpha val="15000"/>
              </a:schemeClr>
            </a:outerShdw>
          </a:effectLst>
        </p:spPr>
        <p:txBody>
          <a:bodyPr lIns="85039" tIns="42520" rIns="85039" bIns="425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6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2611" y="120138"/>
            <a:ext cx="9435398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18202B"/>
                </a:solidFill>
                <a:effectLst/>
                <a:uLnTx/>
                <a:uFillTx/>
                <a:latin typeface="Roboto Black" panose="02000000000000000000"/>
                <a:cs typeface="+mn-ea"/>
                <a:sym typeface="+mn-lt"/>
              </a:rPr>
              <a:t>EDA</a:t>
            </a:r>
            <a:endParaRPr kumimoji="0" lang="en-AU" altLang="zh-CN" sz="4400" b="0" i="0" u="none" strike="noStrike" kern="1200" cap="none" spc="0" normalizeH="0" baseline="0" noProof="0">
              <a:ln>
                <a:noFill/>
              </a:ln>
              <a:solidFill>
                <a:srgbClr val="18202B"/>
              </a:solidFill>
              <a:effectLst/>
              <a:uLnTx/>
              <a:uFillTx/>
              <a:latin typeface="Roboto Black" panose="02000000000000000000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1459" y="-818261"/>
            <a:ext cx="2396423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017BFF"/>
                    </a:gs>
                    <a:gs pos="100000">
                      <a:srgbClr val="017BFF">
                        <a:lumMod val="60000"/>
                        <a:lumOff val="40000"/>
                      </a:srgbClr>
                    </a:gs>
                  </a:gsLst>
                  <a:lin ang="2700000" scaled="0"/>
                </a:gradFill>
                <a:effectLst>
                  <a:outerShdw blurRad="63500" dist="12700" dir="5400000" sx="90000" sy="90000" algn="ctr" rotWithShape="0">
                    <a:srgbClr val="017BFF">
                      <a:alpha val="30000"/>
                    </a:srgbClr>
                  </a:outerShdw>
                </a:effectLst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“</a:t>
            </a:r>
            <a:r>
              <a:rPr kumimoji="0" lang="en-AU" altLang="en-US" sz="16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017BFF"/>
                    </a:gs>
                    <a:gs pos="100000">
                      <a:srgbClr val="017BFF">
                        <a:lumMod val="60000"/>
                        <a:lumOff val="40000"/>
                      </a:srgbClr>
                    </a:gs>
                  </a:gsLst>
                  <a:lin ang="2700000" scaled="0"/>
                </a:gradFill>
                <a:effectLst>
                  <a:outerShdw blurRad="63500" dist="12700" dir="5400000" sx="90000" sy="90000" algn="ctr" rotWithShape="0">
                    <a:srgbClr val="017BFF">
                      <a:alpha val="30000"/>
                    </a:srgbClr>
                  </a:outerShdw>
                </a:effectLst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 </a:t>
            </a:r>
            <a:endParaRPr kumimoji="0" lang="en-AU" altLang="en-US" sz="166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017BFF"/>
                  </a:gs>
                  <a:gs pos="100000">
                    <a:srgbClr val="017BFF">
                      <a:lumMod val="60000"/>
                      <a:lumOff val="40000"/>
                    </a:srgbClr>
                  </a:gs>
                </a:gsLst>
                <a:lin ang="2700000" scaled="0"/>
              </a:gradFill>
              <a:effectLst>
                <a:outerShdw blurRad="63500" dist="12700" dir="5400000" sx="90000" sy="90000" algn="ctr" rotWithShape="0">
                  <a:srgbClr val="017BFF">
                    <a:alpha val="30000"/>
                  </a:srgbClr>
                </a:outerShdw>
              </a:effectLst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56260" y="888365"/>
            <a:ext cx="115036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I created multiple visualizations to understand the data: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Number of matches per season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 10 venues where matches were played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Toss decision distribution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 teams by number of wins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Runs scored per ball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Total runs per delivery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 10 batsmen based on total runs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 10 bowlers based on number of wickets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687705" y="3656965"/>
            <a:ext cx="10786110" cy="3143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/>
              <a:t>Outputs generated</a:t>
            </a:r>
            <a:r>
              <a:rPr lang="en-AU" altLang="en-US" sz="2400" b="1"/>
              <a:t>:</a:t>
            </a:r>
            <a:endParaRPr lang="en-US" altLang="en-GB" sz="2400" b="1"/>
          </a:p>
          <a:p>
            <a:endParaRPr lang="en-US" altLang="en-GB" sz="2000"/>
          </a:p>
          <a:p>
            <a:r>
              <a:rPr lang="en-US" altLang="en-GB"/>
              <a:t>The following graphs were saved: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matches_per_season.png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top_venues.png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toss_decision.png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top_teams.png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runs_per_ball.png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total_runs_per_ball.png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top_batsmen.png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top_bowlers.png</a:t>
            </a:r>
            <a:endParaRPr lang="en-US" altLang="en-GB"/>
          </a:p>
        </p:txBody>
      </p:sp>
      <p:pic>
        <p:nvPicPr>
          <p:cNvPr id="5" name="Picture 4" descr="2"/>
          <p:cNvPicPr>
            <a:picLocks noChangeAspect="1"/>
          </p:cNvPicPr>
          <p:nvPr/>
        </p:nvPicPr>
        <p:blipFill>
          <a:blip r:embed="rId1"/>
          <a:srcRect l="18758" r="16639" b="7440"/>
          <a:stretch>
            <a:fillRect/>
          </a:stretch>
        </p:blipFill>
        <p:spPr>
          <a:xfrm>
            <a:off x="7427595" y="1397000"/>
            <a:ext cx="3621405" cy="3529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81133" y="1780641"/>
            <a:ext cx="16113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02</a:t>
            </a:r>
            <a:endParaRPr kumimoji="0" lang="en-US" altLang="zh-CN" sz="9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1181133" y="3303886"/>
            <a:ext cx="4528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Market customers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87045" y="1240155"/>
            <a:ext cx="116465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Merged deliveries.csv and matches.csv using match_id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Converted ball-by-ball data into a player–match level dataset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Calculated total runs and balls per player per match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Created intermediate file </a:t>
            </a:r>
            <a:r>
              <a:rPr lang="en-US" altLang="en-US"/>
              <a:t>→</a:t>
            </a:r>
            <a:r>
              <a:rPr lang="en-US" altLang="en-GB"/>
              <a:t> player_match_level.csv</a:t>
            </a:r>
            <a:endParaRPr lang="en-GB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487045" y="2689860"/>
            <a:ext cx="11645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600" b="1">
                <a:solidFill>
                  <a:schemeClr val="accent1"/>
                </a:solidFill>
              </a:rPr>
              <a:t>Feature Engineering</a:t>
            </a:r>
            <a:endParaRPr lang="en-US" altLang="en-GB" sz="3600" b="1">
              <a:solidFill>
                <a:schemeClr val="accent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59130" y="3509645"/>
            <a:ext cx="113861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Calculated strike rate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Created matches_played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Computed career average runs (till previous match)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Generated average runs of last 5 matches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Generated average strike rate of last 5 matches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Final feature dataset </a:t>
            </a:r>
            <a:r>
              <a:rPr lang="en-US" altLang="en-US"/>
              <a:t>→</a:t>
            </a:r>
            <a:r>
              <a:rPr lang="en-US" altLang="en-GB"/>
              <a:t> batsman_features.csv</a:t>
            </a:r>
            <a:endParaRPr lang="en-GB" altLang="en-US"/>
          </a:p>
        </p:txBody>
      </p:sp>
      <p:sp>
        <p:nvSpPr>
          <p:cNvPr id="22" name="Rectangle: Rounded Corners 20"/>
          <p:cNvSpPr/>
          <p:nvPr>
            <p:custDataLst>
              <p:tags r:id="rId1"/>
            </p:custDataLst>
          </p:nvPr>
        </p:nvSpPr>
        <p:spPr>
          <a:xfrm flipV="1">
            <a:off x="487045" y="216535"/>
            <a:ext cx="5049520" cy="851535"/>
          </a:xfrm>
          <a:prstGeom prst="roundRect">
            <a:avLst>
              <a:gd name="adj" fmla="val 4303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0" dist="508000" dir="5400000" sx="90000" sy="90000" algn="t" rotWithShape="0">
              <a:schemeClr val="accent3">
                <a:alpha val="15000"/>
              </a:schemeClr>
            </a:outerShdw>
          </a:effectLst>
        </p:spPr>
        <p:txBody>
          <a:bodyPr lIns="85039" tIns="42520" rIns="85039" bIns="425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6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87045" y="248920"/>
            <a:ext cx="45827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600" b="1">
                <a:solidFill>
                  <a:schemeClr val="accent1"/>
                </a:solidFill>
                <a:sym typeface="+mn-ea"/>
              </a:rPr>
              <a:t>Data Preparation</a:t>
            </a:r>
            <a:endParaRPr sz="3600" b="1">
              <a:solidFill>
                <a:schemeClr val="accent1"/>
              </a:solidFill>
            </a:endParaRPr>
          </a:p>
          <a:p>
            <a:endParaRPr lang="en-GB" altLang="en-US" sz="3600"/>
          </a:p>
        </p:txBody>
      </p:sp>
      <p:pic>
        <p:nvPicPr>
          <p:cNvPr id="2" name="Picture 1" descr="3"/>
          <p:cNvPicPr>
            <a:picLocks noChangeAspect="1"/>
          </p:cNvPicPr>
          <p:nvPr/>
        </p:nvPicPr>
        <p:blipFill>
          <a:blip r:embed="rId2"/>
          <a:srcRect l="4985" t="30148" r="528" b="26241"/>
          <a:stretch>
            <a:fillRect/>
          </a:stretch>
        </p:blipFill>
        <p:spPr>
          <a:xfrm>
            <a:off x="5069840" y="2947035"/>
            <a:ext cx="6639560" cy="1839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0"/>
          <p:cNvSpPr/>
          <p:nvPr/>
        </p:nvSpPr>
        <p:spPr>
          <a:xfrm flipV="1">
            <a:off x="695325" y="549053"/>
            <a:ext cx="10801350" cy="5759451"/>
          </a:xfrm>
          <a:prstGeom prst="roundRect">
            <a:avLst>
              <a:gd name="adj" fmla="val 357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58800" dist="609600" dir="5400000" sx="90000" sy="90000" algn="t" rotWithShape="0">
              <a:srgbClr val="18202B">
                <a:alpha val="2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125855" y="762635"/>
            <a:ext cx="945197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Final Feature Dataset Creation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4" name="Rectangle: Rounded Corners 20"/>
          <p:cNvSpPr/>
          <p:nvPr/>
        </p:nvSpPr>
        <p:spPr>
          <a:xfrm rot="16200000" flipH="1" flipV="1">
            <a:off x="7441565" y="2252980"/>
            <a:ext cx="5757545" cy="2352040"/>
          </a:xfrm>
          <a:prstGeom prst="round2SameRect">
            <a:avLst>
              <a:gd name="adj1" fmla="val 5008"/>
              <a:gd name="adj2" fmla="val 0"/>
            </a:avLst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560698" y="2140886"/>
            <a:ext cx="216000" cy="216000"/>
            <a:chOff x="9584466" y="2191685"/>
            <a:chExt cx="216000" cy="216000"/>
          </a:xfrm>
        </p:grpSpPr>
        <p:sp>
          <p:nvSpPr>
            <p:cNvPr id="43" name="Oval 18"/>
            <p:cNvSpPr>
              <a:spLocks noChangeAspect="1"/>
            </p:cNvSpPr>
            <p:nvPr/>
          </p:nvSpPr>
          <p:spPr>
            <a:xfrm>
              <a:off x="9584466" y="2191685"/>
              <a:ext cx="216000" cy="216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44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9654366" y="2258579"/>
              <a:ext cx="76200" cy="82212"/>
              <a:chOff x="9936163" y="2252757"/>
              <a:chExt cx="76200" cy="88561"/>
            </a:xfrm>
          </p:grpSpPr>
          <p:cxnSp>
            <p:nvCxnSpPr>
              <p:cNvPr id="45" name="直接连接符 44"/>
              <p:cNvCxnSpPr/>
              <p:nvPr/>
            </p:nvCxnSpPr>
            <p:spPr>
              <a:xfrm>
                <a:off x="9961563" y="2257180"/>
                <a:ext cx="0" cy="84138"/>
              </a:xfrm>
              <a:prstGeom prst="line">
                <a:avLst/>
              </a:prstGeom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9936163" y="2299249"/>
                <a:ext cx="0" cy="42069"/>
              </a:xfrm>
              <a:prstGeom prst="line">
                <a:avLst/>
              </a:prstGeom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9986963" y="2299249"/>
                <a:ext cx="0" cy="42069"/>
              </a:xfrm>
              <a:prstGeom prst="line">
                <a:avLst/>
              </a:prstGeom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10012363" y="2252757"/>
                <a:ext cx="0" cy="88561"/>
              </a:xfrm>
              <a:prstGeom prst="line">
                <a:avLst/>
              </a:prstGeom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Text Box 4"/>
          <p:cNvSpPr txBox="1"/>
          <p:nvPr/>
        </p:nvSpPr>
        <p:spPr>
          <a:xfrm>
            <a:off x="644525" y="1413510"/>
            <a:ext cx="993330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accent1"/>
                </a:solidFill>
              </a:rPr>
              <a:t>Data Processing:</a:t>
            </a:r>
            <a:endParaRPr lang="en-US" altLang="en-US" sz="2000" b="1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Loaded the player–match dataset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Sorted data by player and match order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chemeClr val="accent1"/>
                </a:solidFill>
              </a:rPr>
              <a:t>Feature Preparation</a:t>
            </a:r>
            <a:endParaRPr lang="en-US" altLang="en-US" sz="2000" b="1">
              <a:solidFill>
                <a:schemeClr val="accent1"/>
              </a:solidFill>
            </a:endParaRPr>
          </a:p>
          <a:p>
            <a:r>
              <a:rPr lang="en-US" altLang="en-US"/>
              <a:t>Prepared historical performance features: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matches_played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career_avg_runs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avg_runs_last_5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avg_sr_last_5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 sz="2000" b="1">
                <a:solidFill>
                  <a:schemeClr val="accent1"/>
                </a:solidFill>
              </a:rPr>
              <a:t>Data Cleaning</a:t>
            </a:r>
            <a:endParaRPr lang="en-US" altLang="en-US" sz="2000" b="1">
              <a:solidFill>
                <a:schemeClr val="accent1"/>
              </a:solidFill>
            </a:endParaRPr>
          </a:p>
          <a:p>
            <a:r>
              <a:rPr lang="en-US" altLang="en-US"/>
              <a:t>Removed rows with missing feature values</a:t>
            </a:r>
            <a:endParaRPr lang="en-US" altLang="en-US"/>
          </a:p>
          <a:p>
            <a:endParaRPr lang="en-US" altLang="en-US"/>
          </a:p>
          <a:p>
            <a:r>
              <a:rPr lang="en-US" altLang="en-US" b="1">
                <a:solidFill>
                  <a:schemeClr val="accent1"/>
                </a:solidFill>
              </a:rPr>
              <a:t>Output</a:t>
            </a:r>
            <a:endParaRPr lang="en-US" altLang="en-US" b="1">
              <a:solidFill>
                <a:schemeClr val="accent1"/>
              </a:solidFill>
            </a:endParaRPr>
          </a:p>
          <a:p>
            <a:r>
              <a:rPr lang="en-US" altLang="en-US"/>
              <a:t>Created final ML dataset  : batsman_features.csv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0"/>
          <p:cNvSpPr/>
          <p:nvPr>
            <p:custDataLst>
              <p:tags r:id="rId1"/>
            </p:custDataLst>
          </p:nvPr>
        </p:nvSpPr>
        <p:spPr>
          <a:xfrm flipV="1">
            <a:off x="662940" y="1381760"/>
            <a:ext cx="7414260" cy="5317490"/>
          </a:xfrm>
          <a:prstGeom prst="roundRect">
            <a:avLst>
              <a:gd name="adj" fmla="val 5431"/>
            </a:avLst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chemeClr val="accent1">
                <a:alpha val="40000"/>
              </a:schemeClr>
            </a:outerShdw>
          </a:effectLst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296545" y="408940"/>
            <a:ext cx="110274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Exploratory Data Analysis &amp; Train–Test Split</a:t>
            </a:r>
            <a:endParaRPr kumimoji="0" lang="en-US" altLang="en-US" sz="40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66" name="文本框 65"/>
          <p:cNvSpPr txBox="1"/>
          <p:nvPr>
            <p:custDataLst>
              <p:tags r:id="rId2"/>
            </p:custDataLst>
          </p:nvPr>
        </p:nvSpPr>
        <p:spPr>
          <a:xfrm>
            <a:off x="805180" y="1381760"/>
            <a:ext cx="1082167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Exploratory Analysis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Analysed feature distributions and target (runs)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Visualised main features: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matches_played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avg_runs_last_5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avg_sr_last_5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career_avg_runs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Performed correlation analysis between features and target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Data Preparation for Modeling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Sorted data in match order (time-aware)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Split data into: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Training set (80%)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Testing set (20%)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Output files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train_features.csv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Roboto" panose="02000000000000000000"/>
                <a:ea typeface="Roboto" panose="02000000000000000000" pitchFamily="2" charset="0"/>
                <a:cs typeface="+mn-ea"/>
                <a:sym typeface="+mn-lt"/>
              </a:rPr>
              <a:t>test_features.csv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pic>
        <p:nvPicPr>
          <p:cNvPr id="2" name="Picture 1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885" y="2495550"/>
            <a:ext cx="3510915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181133" y="1780641"/>
            <a:ext cx="16113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03</a:t>
            </a: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cs typeface="+mn-ea"/>
              <a:sym typeface="+mn-lt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1181133" y="3303886"/>
            <a:ext cx="4528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Marketing 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Sales 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pic>
        <p:nvPicPr>
          <p:cNvPr id="2" name="Picture 1" descr="ChatGPT Image Feb 17, 2026, 10_43_0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160655"/>
            <a:ext cx="12191365" cy="7018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tGPT Image Feb 19, 2026, 06_07_01 PM"/>
          <p:cNvPicPr>
            <a:picLocks noChangeAspect="1"/>
          </p:cNvPicPr>
          <p:nvPr/>
        </p:nvPicPr>
        <p:blipFill>
          <a:blip r:embed="rId1"/>
          <a:srcRect t="18028" r="50000"/>
          <a:stretch>
            <a:fillRect/>
          </a:stretch>
        </p:blipFill>
        <p:spPr>
          <a:xfrm>
            <a:off x="953135" y="257175"/>
            <a:ext cx="8003540" cy="6205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alpha val="80000"/>
              </a:schemeClr>
            </a:gs>
            <a:gs pos="100000">
              <a:schemeClr val="accent1">
                <a:lumMod val="60000"/>
                <a:lumOff val="40000"/>
                <a:alpha val="8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tGPT Image Feb 19, 2026, 06_07_01 PM"/>
          <p:cNvPicPr>
            <a:picLocks noChangeAspect="1"/>
          </p:cNvPicPr>
          <p:nvPr/>
        </p:nvPicPr>
        <p:blipFill>
          <a:blip r:embed="rId1"/>
          <a:srcRect l="50858" t="18750" r="846" b="2324"/>
          <a:stretch>
            <a:fillRect/>
          </a:stretch>
        </p:blipFill>
        <p:spPr>
          <a:xfrm>
            <a:off x="2157095" y="187325"/>
            <a:ext cx="7402830" cy="6569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4"/>
          <p:cNvSpPr txBox="1"/>
          <p:nvPr/>
        </p:nvSpPr>
        <p:spPr>
          <a:xfrm>
            <a:off x="553640" y="842601"/>
            <a:ext cx="67742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+mn-ea"/>
                <a:sym typeface="+mn-lt"/>
              </a:rPr>
              <a:t>Conclusion</a:t>
            </a:r>
            <a:endParaRPr kumimoji="0" lang="en-US" altLang="en-US" sz="48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Roboto Black" panose="02000000000000000000"/>
              <a:ea typeface="Roboto" panose="02000000000000000000" pitchFamily="2" charset="0"/>
              <a:cs typeface="+mn-ea"/>
              <a:sym typeface="+mn-lt"/>
            </a:endParaRPr>
          </a:p>
        </p:txBody>
      </p:sp>
      <p:sp>
        <p:nvSpPr>
          <p:cNvPr id="27" name="Rectangle: Rounded Corners 20"/>
          <p:cNvSpPr/>
          <p:nvPr>
            <p:custDataLst>
              <p:tags r:id="rId1"/>
            </p:custDataLst>
          </p:nvPr>
        </p:nvSpPr>
        <p:spPr>
          <a:xfrm flipV="1">
            <a:off x="660400" y="2526030"/>
            <a:ext cx="10399395" cy="3708400"/>
          </a:xfrm>
          <a:prstGeom prst="roundRect">
            <a:avLst>
              <a:gd name="adj" fmla="val 4573"/>
            </a:avLst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0" dist="317500" dir="5400000" sx="90000" sy="90000" algn="ctr" rotWithShape="0">
              <a:schemeClr val="accent1">
                <a:alpha val="33000"/>
              </a:schemeClr>
            </a:outerShdw>
          </a:effectLst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2"/>
            </p:custDataLst>
          </p:nvPr>
        </p:nvCxnSpPr>
        <p:spPr>
          <a:xfrm>
            <a:off x="3721691" y="5466053"/>
            <a:ext cx="13031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>
            <p:custDataLst>
              <p:tags r:id="rId3"/>
            </p:custDataLst>
          </p:nvPr>
        </p:nvCxnSpPr>
        <p:spPr>
          <a:xfrm>
            <a:off x="6549756" y="5466053"/>
            <a:ext cx="13031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4"/>
            </p:custDataLst>
          </p:nvPr>
        </p:nvCxnSpPr>
        <p:spPr>
          <a:xfrm>
            <a:off x="9377821" y="5466053"/>
            <a:ext cx="13031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5"/>
            </p:custDataLst>
          </p:nvPr>
        </p:nvCxnSpPr>
        <p:spPr>
          <a:xfrm>
            <a:off x="553720" y="1906905"/>
            <a:ext cx="10858500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/>
          <p:cNvSpPr/>
          <p:nvPr>
            <p:custDataLst>
              <p:tags r:id="rId6"/>
            </p:custDataLst>
          </p:nvPr>
        </p:nvSpPr>
        <p:spPr>
          <a:xfrm>
            <a:off x="1702137" y="1830705"/>
            <a:ext cx="152400" cy="152400"/>
          </a:xfrm>
          <a:prstGeom prst="ellipse">
            <a:avLst/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cs typeface="+mn-ea"/>
            </a:endParaRPr>
          </a:p>
        </p:txBody>
      </p:sp>
      <p:sp>
        <p:nvSpPr>
          <p:cNvPr id="64" name="椭圆 63"/>
          <p:cNvSpPr/>
          <p:nvPr>
            <p:custDataLst>
              <p:tags r:id="rId7"/>
            </p:custDataLst>
          </p:nvPr>
        </p:nvSpPr>
        <p:spPr>
          <a:xfrm>
            <a:off x="4599417" y="1753870"/>
            <a:ext cx="152400" cy="152400"/>
          </a:xfrm>
          <a:prstGeom prst="ellipse">
            <a:avLst/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cs typeface="+mn-ea"/>
            </a:endParaRPr>
          </a:p>
        </p:txBody>
      </p:sp>
      <p:sp>
        <p:nvSpPr>
          <p:cNvPr id="65" name="椭圆 64"/>
          <p:cNvSpPr/>
          <p:nvPr>
            <p:custDataLst>
              <p:tags r:id="rId8"/>
            </p:custDataLst>
          </p:nvPr>
        </p:nvSpPr>
        <p:spPr>
          <a:xfrm>
            <a:off x="7427482" y="1906270"/>
            <a:ext cx="152400" cy="152400"/>
          </a:xfrm>
          <a:prstGeom prst="ellipse">
            <a:avLst/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cs typeface="+mn-ea"/>
            </a:endParaRPr>
          </a:p>
        </p:txBody>
      </p:sp>
      <p:sp>
        <p:nvSpPr>
          <p:cNvPr id="66" name="椭圆 65"/>
          <p:cNvSpPr/>
          <p:nvPr>
            <p:custDataLst>
              <p:tags r:id="rId9"/>
            </p:custDataLst>
          </p:nvPr>
        </p:nvSpPr>
        <p:spPr>
          <a:xfrm>
            <a:off x="10255547" y="1753870"/>
            <a:ext cx="152400" cy="152400"/>
          </a:xfrm>
          <a:prstGeom prst="ellipse">
            <a:avLst/>
          </a:prstGeom>
          <a:gradFill flip="none" rotWithShape="0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cs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77290" y="2955290"/>
            <a:ext cx="63334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Collected IPL match and ball-by-ball data from Kaggle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Prepared a player-level dataset using data preprocessing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Applied feature engineering using recent and career performance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Built a machine learning model to predict batsman runs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Developed an interactive Streamlit dashboard for visualization and prediction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20"/>
          <p:cNvSpPr/>
          <p:nvPr/>
        </p:nvSpPr>
        <p:spPr>
          <a:xfrm flipV="1">
            <a:off x="0" y="1368191"/>
            <a:ext cx="12192000" cy="412161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237" tIns="47618" rIns="95237" bIns="476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Roboto" panose="02000000000000000000" pitchFamily="2" charset="0"/>
              <a:cs typeface="+mn-ea"/>
            </a:endParaRPr>
          </a:p>
        </p:txBody>
      </p:sp>
      <p:pic>
        <p:nvPicPr>
          <p:cNvPr id="13" name="图片 12" descr="房间里有窗户&#10;&#10;中度可信度描述已自动生成"/>
          <p:cNvPicPr>
            <a:picLocks noChangeAspect="1"/>
          </p:cNvPicPr>
          <p:nvPr/>
        </p:nvPicPr>
        <p:blipFill>
          <a:blip r:embed="rId1" cstate="print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" t="24887" r="413" b="24887"/>
          <a:stretch>
            <a:fillRect/>
          </a:stretch>
        </p:blipFill>
        <p:spPr>
          <a:xfrm>
            <a:off x="0" y="1368191"/>
            <a:ext cx="12191999" cy="4121618"/>
          </a:xfrm>
          <a:custGeom>
            <a:avLst/>
            <a:gdLst>
              <a:gd name="connsiteX0" fmla="*/ 0 w 12191999"/>
              <a:gd name="connsiteY0" fmla="*/ 0 h 4121618"/>
              <a:gd name="connsiteX1" fmla="*/ 12191999 w 12191999"/>
              <a:gd name="connsiteY1" fmla="*/ 0 h 4121618"/>
              <a:gd name="connsiteX2" fmla="*/ 12191999 w 12191999"/>
              <a:gd name="connsiteY2" fmla="*/ 4121618 h 4121618"/>
              <a:gd name="connsiteX3" fmla="*/ 0 w 12191999"/>
              <a:gd name="connsiteY3" fmla="*/ 4121618 h 4121618"/>
              <a:gd name="connsiteX4" fmla="*/ 0 w 12191999"/>
              <a:gd name="connsiteY4" fmla="*/ 0 h 412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4121618">
                <a:moveTo>
                  <a:pt x="0" y="0"/>
                </a:moveTo>
                <a:lnTo>
                  <a:pt x="12191999" y="0"/>
                </a:lnTo>
                <a:lnTo>
                  <a:pt x="12191999" y="4121618"/>
                </a:lnTo>
                <a:lnTo>
                  <a:pt x="0" y="412161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文本框 5"/>
          <p:cNvSpPr txBox="1"/>
          <p:nvPr/>
        </p:nvSpPr>
        <p:spPr>
          <a:xfrm>
            <a:off x="3756256" y="2705725"/>
            <a:ext cx="46794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lack" panose="02000000000000000000"/>
                <a:ea typeface="Roboto" panose="02000000000000000000" pitchFamily="2" charset="0"/>
                <a:cs typeface="Kanit SemiBold" pitchFamily="2" charset="-34"/>
              </a:rPr>
              <a:t>THANKS</a:t>
            </a:r>
            <a:endParaRPr kumimoji="0" lang="zh-CN" altLang="en-US" sz="8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lack" panose="02000000000000000000"/>
              <a:ea typeface="等线"/>
              <a:cs typeface="Kanit SemiBold" pitchFamily="2" charset="-3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6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7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8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9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0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1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2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3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4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5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6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7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8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19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20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21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22.xml><?xml version="1.0" encoding="utf-8"?>
<p:tagLst xmlns:p="http://schemas.openxmlformats.org/presentationml/2006/main">
  <p:tag name="KSO_WM_DIAGRAM_VIRTUALLY_FRAME" val="{&quot;height&quot;:533.1497825330115,&quot;left&quot;:36.552429893567684,&quot;top&quot;:135.7660761385353,&quot;width&quot;:783.1149716812354}"/>
</p:tagLst>
</file>

<file path=ppt/tags/tag23.xml><?xml version="1.0" encoding="utf-8"?>
<p:tagLst xmlns:p="http://schemas.openxmlformats.org/presentationml/2006/main">
  <p:tag name="KSO_WM_DIAGRAM_VIRTUALLY_FRAME" val="{&quot;height&quot;:746.1704724409449,&quot;left&quot;:52.19992125984252,&quot;top&quot;:108.8,&quot;width&quot;:896.6500787401576}"/>
</p:tagLst>
</file>

<file path=ppt/tags/tag24.xml><?xml version="1.0" encoding="utf-8"?>
<p:tagLst xmlns:p="http://schemas.openxmlformats.org/presentationml/2006/main">
  <p:tag name="KSO_WM_DIAGRAM_VIRTUALLY_FRAME" val="{&quot;height&quot;:746.1704724409449,&quot;left&quot;:52.19992125984252,&quot;top&quot;:108.8,&quot;width&quot;:896.6500787401576}"/>
</p:tagLst>
</file>

<file path=ppt/tags/tag25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26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27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28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29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30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31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32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33.xml><?xml version="1.0" encoding="utf-8"?>
<p:tagLst xmlns:p="http://schemas.openxmlformats.org/presentationml/2006/main">
  <p:tag name="KSO_WM_DIAGRAM_VIRTUALLY_FRAME" val="{&quot;height&quot;:322.39543307086615,&quot;left&quot;:52,&quot;top&quot;:168.5,&quot;width&quot;:855}"/>
</p:tagLst>
</file>

<file path=ppt/tags/tag34.xml><?xml version="1.0" encoding="utf-8"?>
<p:tagLst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Theme">
  <a:themeElements>
    <a:clrScheme name="wps 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7BFF"/>
      </a:accent1>
      <a:accent2>
        <a:srgbClr val="F4F5F7"/>
      </a:accent2>
      <a:accent3>
        <a:srgbClr val="18202B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4">
      <a:majorFont>
        <a:latin typeface="Roboto Black"/>
        <a:ea typeface="Roboto Black"/>
        <a:cs typeface=""/>
      </a:majorFont>
      <a:minorFont>
        <a:latin typeface="Roboto"/>
        <a:ea typeface="Robo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3650</Words>
  <Application>WPS Presentation</Application>
  <PresentationFormat>宽屏</PresentationFormat>
  <Paragraphs>185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Roboto</vt:lpstr>
      <vt:lpstr>Roboto</vt:lpstr>
      <vt:lpstr>Roboto Black</vt:lpstr>
      <vt:lpstr>Microsoft YaHei</vt:lpstr>
      <vt:lpstr>Arial Unicode MS</vt:lpstr>
      <vt:lpstr>Calibri</vt:lpstr>
      <vt:lpstr>Kanit SemiBold</vt:lpstr>
      <vt:lpstr>Microsoft Sans Serif</vt:lpstr>
      <vt:lpstr>等线</vt:lpstr>
      <vt:lpstr>Arial Black</vt:lpstr>
      <vt:lpstr>OPPOSans R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akshaya lega</cp:lastModifiedBy>
  <cp:revision>20</cp:revision>
  <dcterms:created xsi:type="dcterms:W3CDTF">2022-08-04T09:39:00Z</dcterms:created>
  <dcterms:modified xsi:type="dcterms:W3CDTF">2026-02-19T13:10:10Z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3503CA28DB534EFDAAD0C1DA90CE78B6_13</vt:lpwstr>
  </property>
  <property fmtid="{D5CDD505-2E9C-101B-9397-08002B2CF9AE}" pid="3" name="KSOProductBuildVer">
    <vt:lpwstr>1033-12.2.0.23196</vt:lpwstr>
  </property>
</Properties>
</file>